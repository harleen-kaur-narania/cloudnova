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4" r:id="rId6"/>
    <p:sldId id="275" r:id="rId7"/>
    <p:sldId id="281" r:id="rId8"/>
    <p:sldId id="261" r:id="rId9"/>
    <p:sldId id="266" r:id="rId10"/>
    <p:sldId id="269" r:id="rId11"/>
    <p:sldId id="271" r:id="rId12"/>
    <p:sldId id="273" r:id="rId13"/>
    <p:sldId id="279" r:id="rId14"/>
    <p:sldId id="283" r:id="rId15"/>
    <p:sldId id="277" r:id="rId16"/>
    <p:sldId id="278" r:id="rId17"/>
    <p:sldId id="276" r:id="rId18"/>
    <p:sldId id="260" r:id="rId19"/>
    <p:sldId id="270" r:id="rId20"/>
    <p:sldId id="262" r:id="rId21"/>
    <p:sldId id="264" r:id="rId22"/>
    <p:sldId id="265" r:id="rId23"/>
    <p:sldId id="268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leen Kaur Narania" userId="99e77585-37b4-40e7-ac44-cb5139a78ec0" providerId="ADAL" clId="{865D57F5-C5E2-47CC-AB60-D9BEEC8059C4}"/>
    <pc:docChg chg="undo custSel modSld">
      <pc:chgData name="Harleen Kaur Narania" userId="99e77585-37b4-40e7-ac44-cb5139a78ec0" providerId="ADAL" clId="{865D57F5-C5E2-47CC-AB60-D9BEEC8059C4}" dt="2026-07-23T23:38:27.268" v="20" actId="26606"/>
      <pc:docMkLst>
        <pc:docMk/>
      </pc:docMkLst>
      <pc:sldChg chg="addSp delSp modSp mod setBg addAnim delAnim setClrOvrMap">
        <pc:chgData name="Harleen Kaur Narania" userId="99e77585-37b4-40e7-ac44-cb5139a78ec0" providerId="ADAL" clId="{865D57F5-C5E2-47CC-AB60-D9BEEC8059C4}" dt="2026-07-23T23:38:27.268" v="20" actId="26606"/>
        <pc:sldMkLst>
          <pc:docMk/>
          <pc:sldMk cId="3365591144" sldId="256"/>
        </pc:sldMkLst>
        <pc:spChg chg="mod">
          <ac:chgData name="Harleen Kaur Narania" userId="99e77585-37b4-40e7-ac44-cb5139a78ec0" providerId="ADAL" clId="{865D57F5-C5E2-47CC-AB60-D9BEEC8059C4}" dt="2026-07-23T23:38:27.268" v="20" actId="26606"/>
          <ac:spMkLst>
            <pc:docMk/>
            <pc:sldMk cId="3365591144" sldId="256"/>
            <ac:spMk id="2" creationId="{A972385D-175D-0F47-7E7E-99B0773AD44F}"/>
          </ac:spMkLst>
        </pc:spChg>
        <pc:spChg chg="del mod">
          <ac:chgData name="Harleen Kaur Narania" userId="99e77585-37b4-40e7-ac44-cb5139a78ec0" providerId="ADAL" clId="{865D57F5-C5E2-47CC-AB60-D9BEEC8059C4}" dt="2026-07-23T23:38:01.408" v="15" actId="478"/>
          <ac:spMkLst>
            <pc:docMk/>
            <pc:sldMk cId="3365591144" sldId="256"/>
            <ac:spMk id="3" creationId="{BB55DB5B-01F7-8B14-73A0-8421970417A6}"/>
          </ac:spMkLst>
        </pc:spChg>
        <pc:spChg chg="add del mod">
          <ac:chgData name="Harleen Kaur Narania" userId="99e77585-37b4-40e7-ac44-cb5139a78ec0" providerId="ADAL" clId="{865D57F5-C5E2-47CC-AB60-D9BEEC8059C4}" dt="2026-07-23T23:38:06.015" v="16" actId="478"/>
          <ac:spMkLst>
            <pc:docMk/>
            <pc:sldMk cId="3365591144" sldId="256"/>
            <ac:spMk id="5" creationId="{1F5A31AD-6ACD-D4C8-4C42-BFCF42D4A6BF}"/>
          </ac:spMkLst>
        </pc:spChg>
        <pc:spChg chg="del">
          <ac:chgData name="Harleen Kaur Narania" userId="99e77585-37b4-40e7-ac44-cb5139a78ec0" providerId="ADAL" clId="{865D57F5-C5E2-47CC-AB60-D9BEEC8059C4}" dt="2026-07-23T23:38:27.268" v="20" actId="26606"/>
          <ac:spMkLst>
            <pc:docMk/>
            <pc:sldMk cId="3365591144" sldId="256"/>
            <ac:spMk id="8" creationId="{C3896A03-3945-419A-B66B-4EE266EDD152}"/>
          </ac:spMkLst>
        </pc:spChg>
        <pc:spChg chg="add del">
          <ac:chgData name="Harleen Kaur Narania" userId="99e77585-37b4-40e7-ac44-cb5139a78ec0" providerId="ADAL" clId="{865D57F5-C5E2-47CC-AB60-D9BEEC8059C4}" dt="2026-07-23T23:38:27.268" v="20" actId="26606"/>
          <ac:spMkLst>
            <pc:docMk/>
            <pc:sldMk cId="3365591144" sldId="256"/>
            <ac:spMk id="10" creationId="{B34F5AD2-EDBD-4BBD-A55C-EAFFD0C7097A}"/>
          </ac:spMkLst>
        </pc:spChg>
        <pc:spChg chg="add del">
          <ac:chgData name="Harleen Kaur Narania" userId="99e77585-37b4-40e7-ac44-cb5139a78ec0" providerId="ADAL" clId="{865D57F5-C5E2-47CC-AB60-D9BEEC8059C4}" dt="2026-07-23T23:38:27.268" v="20" actId="26606"/>
          <ac:spMkLst>
            <pc:docMk/>
            <pc:sldMk cId="3365591144" sldId="256"/>
            <ac:spMk id="12" creationId="{450D3AD2-FA80-415F-A9CE-54D884561CD7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17" creationId="{0E30439A-8A5B-46EC-8283-9B6B031D40D0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19" creationId="{5CEAD642-85CF-4750-8432-7C80C901F001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21" creationId="{FA33EEAE-15D5-4119-8C1E-89D943F911EF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23" creationId="{730D8B3B-9B80-4025-B934-26DC7D7CD231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25" creationId="{B5A1B09C-1565-46F8-B70F-621C5EB48A09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27" creationId="{8C516CC8-80AC-446C-A56E-9F54B7210402}"/>
          </ac:spMkLst>
        </pc:spChg>
        <pc:spChg chg="add del">
          <ac:chgData name="Harleen Kaur Narania" userId="99e77585-37b4-40e7-ac44-cb5139a78ec0" providerId="ADAL" clId="{865D57F5-C5E2-47CC-AB60-D9BEEC8059C4}" dt="2026-07-23T23:38:27.265" v="19" actId="26606"/>
          <ac:spMkLst>
            <pc:docMk/>
            <pc:sldMk cId="3365591144" sldId="256"/>
            <ac:spMk id="29" creationId="{53947E58-F088-49F1-A3D1-DEA690192E84}"/>
          </ac:spMkLst>
        </pc:spChg>
        <pc:spChg chg="add">
          <ac:chgData name="Harleen Kaur Narania" userId="99e77585-37b4-40e7-ac44-cb5139a78ec0" providerId="ADAL" clId="{865D57F5-C5E2-47CC-AB60-D9BEEC8059C4}" dt="2026-07-23T23:38:27.268" v="20" actId="26606"/>
          <ac:spMkLst>
            <pc:docMk/>
            <pc:sldMk cId="3365591144" sldId="256"/>
            <ac:spMk id="31" creationId="{66B332A4-D438-4773-A77F-5ED49A448D9D}"/>
          </ac:spMkLst>
        </pc:spChg>
        <pc:spChg chg="add">
          <ac:chgData name="Harleen Kaur Narania" userId="99e77585-37b4-40e7-ac44-cb5139a78ec0" providerId="ADAL" clId="{865D57F5-C5E2-47CC-AB60-D9BEEC8059C4}" dt="2026-07-23T23:38:27.268" v="20" actId="26606"/>
          <ac:spMkLst>
            <pc:docMk/>
            <pc:sldMk cId="3365591144" sldId="256"/>
            <ac:spMk id="32" creationId="{DF9AD32D-FF05-44F4-BD4D-9CEE89B71EB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188AC1-0BC0-4A36-AF73-F85A19153D5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4DCD98-A795-4BAC-BE44-2CC730978EDC}">
      <dgm:prSet/>
      <dgm:spPr/>
      <dgm:t>
        <a:bodyPr/>
        <a:lstStyle/>
        <a:p>
          <a:r>
            <a:rPr lang="en-US"/>
            <a:t>Distributes traffic across Web Server A &amp; B</a:t>
          </a:r>
        </a:p>
      </dgm:t>
    </dgm:pt>
    <dgm:pt modelId="{DEC7B3CB-032A-4614-93F7-108538BD3183}" type="parTrans" cxnId="{901B8A67-B383-4A8B-834C-4CDBD9E70722}">
      <dgm:prSet/>
      <dgm:spPr/>
      <dgm:t>
        <a:bodyPr/>
        <a:lstStyle/>
        <a:p>
          <a:endParaRPr lang="en-US"/>
        </a:p>
      </dgm:t>
    </dgm:pt>
    <dgm:pt modelId="{CFA31323-6586-462F-8A38-4990BF10F50C}" type="sibTrans" cxnId="{901B8A67-B383-4A8B-834C-4CDBD9E70722}">
      <dgm:prSet/>
      <dgm:spPr/>
      <dgm:t>
        <a:bodyPr/>
        <a:lstStyle/>
        <a:p>
          <a:endParaRPr lang="en-US"/>
        </a:p>
      </dgm:t>
    </dgm:pt>
    <dgm:pt modelId="{AD6B86E7-6432-44A0-B4D4-0515221D2A5E}">
      <dgm:prSet/>
      <dgm:spPr/>
      <dgm:t>
        <a:bodyPr/>
        <a:lstStyle/>
        <a:p>
          <a:r>
            <a:rPr lang="en-US"/>
            <a:t>Works across two Availability Zones</a:t>
          </a:r>
        </a:p>
      </dgm:t>
    </dgm:pt>
    <dgm:pt modelId="{71D77E20-EDE0-432C-8D2D-13E5AF1C032D}" type="parTrans" cxnId="{26D84DBB-8A36-4380-A135-871CC601B44B}">
      <dgm:prSet/>
      <dgm:spPr/>
      <dgm:t>
        <a:bodyPr/>
        <a:lstStyle/>
        <a:p>
          <a:endParaRPr lang="en-US"/>
        </a:p>
      </dgm:t>
    </dgm:pt>
    <dgm:pt modelId="{282BA90D-F3EF-49D5-9FD8-F9CF9726E08A}" type="sibTrans" cxnId="{26D84DBB-8A36-4380-A135-871CC601B44B}">
      <dgm:prSet/>
      <dgm:spPr/>
      <dgm:t>
        <a:bodyPr/>
        <a:lstStyle/>
        <a:p>
          <a:endParaRPr lang="en-US"/>
        </a:p>
      </dgm:t>
    </dgm:pt>
    <dgm:pt modelId="{52C3E2DD-9885-4FDE-A64D-4D594B7CE84C}">
      <dgm:prSet/>
      <dgm:spPr/>
      <dgm:t>
        <a:bodyPr/>
        <a:lstStyle/>
        <a:p>
          <a:r>
            <a:rPr lang="en-US"/>
            <a:t>Performs health checks</a:t>
          </a:r>
        </a:p>
      </dgm:t>
    </dgm:pt>
    <dgm:pt modelId="{29A145F2-6AB8-4EF9-B3FA-FA37574924F5}" type="parTrans" cxnId="{68040B86-7436-4A0A-BD4F-060611A5807E}">
      <dgm:prSet/>
      <dgm:spPr/>
      <dgm:t>
        <a:bodyPr/>
        <a:lstStyle/>
        <a:p>
          <a:endParaRPr lang="en-US"/>
        </a:p>
      </dgm:t>
    </dgm:pt>
    <dgm:pt modelId="{EB855DEA-9F09-4205-A7EA-F8927A11D470}" type="sibTrans" cxnId="{68040B86-7436-4A0A-BD4F-060611A5807E}">
      <dgm:prSet/>
      <dgm:spPr/>
      <dgm:t>
        <a:bodyPr/>
        <a:lstStyle/>
        <a:p>
          <a:endParaRPr lang="en-US"/>
        </a:p>
      </dgm:t>
    </dgm:pt>
    <dgm:pt modelId="{E1AFC070-51FA-4DB4-9725-834D4E3C041B}">
      <dgm:prSet/>
      <dgm:spPr/>
      <dgm:t>
        <a:bodyPr/>
        <a:lstStyle/>
        <a:p>
          <a:r>
            <a:rPr lang="en-US"/>
            <a:t>Sends traffic only to healthy servers</a:t>
          </a:r>
        </a:p>
      </dgm:t>
    </dgm:pt>
    <dgm:pt modelId="{94CCBA0A-94EA-4CD8-A7AD-E9A56778B7DB}" type="parTrans" cxnId="{CE9B8179-D155-49C5-945B-3670A3479C17}">
      <dgm:prSet/>
      <dgm:spPr/>
      <dgm:t>
        <a:bodyPr/>
        <a:lstStyle/>
        <a:p>
          <a:endParaRPr lang="en-US"/>
        </a:p>
      </dgm:t>
    </dgm:pt>
    <dgm:pt modelId="{68CEE3BF-BAF2-4089-8657-1F8F6A77A542}" type="sibTrans" cxnId="{CE9B8179-D155-49C5-945B-3670A3479C17}">
      <dgm:prSet/>
      <dgm:spPr/>
      <dgm:t>
        <a:bodyPr/>
        <a:lstStyle/>
        <a:p>
          <a:endParaRPr lang="en-US"/>
        </a:p>
      </dgm:t>
    </dgm:pt>
    <dgm:pt modelId="{099130A8-EC1F-4A2F-BFE0-0660D2270BB3}">
      <dgm:prSet/>
      <dgm:spPr/>
      <dgm:t>
        <a:bodyPr/>
        <a:lstStyle/>
        <a:p>
          <a:r>
            <a:rPr lang="en-US"/>
            <a:t>Supports HTTP (80) and HTTPS (443)</a:t>
          </a:r>
        </a:p>
      </dgm:t>
    </dgm:pt>
    <dgm:pt modelId="{B2275991-AC82-4559-B788-3A22F6411388}" type="parTrans" cxnId="{A3DB95F5-D899-42EC-AD65-3F47483068E6}">
      <dgm:prSet/>
      <dgm:spPr/>
      <dgm:t>
        <a:bodyPr/>
        <a:lstStyle/>
        <a:p>
          <a:endParaRPr lang="en-US"/>
        </a:p>
      </dgm:t>
    </dgm:pt>
    <dgm:pt modelId="{D43DA9C2-03B3-4A9C-BE43-B1FFA5DFFA3C}" type="sibTrans" cxnId="{A3DB95F5-D899-42EC-AD65-3F47483068E6}">
      <dgm:prSet/>
      <dgm:spPr/>
      <dgm:t>
        <a:bodyPr/>
        <a:lstStyle/>
        <a:p>
          <a:endParaRPr lang="en-US"/>
        </a:p>
      </dgm:t>
    </dgm:pt>
    <dgm:pt modelId="{66241C64-31AF-4731-937D-8BAF39725F2E}">
      <dgm:prSet/>
      <dgm:spPr/>
      <dgm:t>
        <a:bodyPr/>
        <a:lstStyle/>
        <a:p>
          <a:r>
            <a:rPr lang="en-US"/>
            <a:t>Improves reliability and uptime</a:t>
          </a:r>
        </a:p>
      </dgm:t>
    </dgm:pt>
    <dgm:pt modelId="{440CB315-4752-4888-86BA-F2C284CAE921}" type="parTrans" cxnId="{EF2C6AB1-3E18-4BFD-AE4C-9D7F2240BEA6}">
      <dgm:prSet/>
      <dgm:spPr/>
      <dgm:t>
        <a:bodyPr/>
        <a:lstStyle/>
        <a:p>
          <a:endParaRPr lang="en-US"/>
        </a:p>
      </dgm:t>
    </dgm:pt>
    <dgm:pt modelId="{A4C8F310-4BD9-4D5E-B050-8B7A348DE6D0}" type="sibTrans" cxnId="{EF2C6AB1-3E18-4BFD-AE4C-9D7F2240BEA6}">
      <dgm:prSet/>
      <dgm:spPr/>
      <dgm:t>
        <a:bodyPr/>
        <a:lstStyle/>
        <a:p>
          <a:endParaRPr lang="en-US"/>
        </a:p>
      </dgm:t>
    </dgm:pt>
    <dgm:pt modelId="{4984738F-3C7E-43CF-B9CE-247F3532E3D0}" type="pres">
      <dgm:prSet presAssocID="{60188AC1-0BC0-4A36-AF73-F85A19153D5B}" presName="vert0" presStyleCnt="0">
        <dgm:presLayoutVars>
          <dgm:dir/>
          <dgm:animOne val="branch"/>
          <dgm:animLvl val="lvl"/>
        </dgm:presLayoutVars>
      </dgm:prSet>
      <dgm:spPr/>
    </dgm:pt>
    <dgm:pt modelId="{1619E554-852A-4E21-B9C1-2B3DFEFFD86D}" type="pres">
      <dgm:prSet presAssocID="{9A4DCD98-A795-4BAC-BE44-2CC730978EDC}" presName="thickLine" presStyleLbl="alignNode1" presStyleIdx="0" presStyleCnt="6"/>
      <dgm:spPr/>
    </dgm:pt>
    <dgm:pt modelId="{12F37093-6DA8-47BB-AC98-73FC3FAC0348}" type="pres">
      <dgm:prSet presAssocID="{9A4DCD98-A795-4BAC-BE44-2CC730978EDC}" presName="horz1" presStyleCnt="0"/>
      <dgm:spPr/>
    </dgm:pt>
    <dgm:pt modelId="{DAB7A7B7-B233-4179-8282-C6325E6783D8}" type="pres">
      <dgm:prSet presAssocID="{9A4DCD98-A795-4BAC-BE44-2CC730978EDC}" presName="tx1" presStyleLbl="revTx" presStyleIdx="0" presStyleCnt="6"/>
      <dgm:spPr/>
    </dgm:pt>
    <dgm:pt modelId="{5A35DDEF-CFFB-43A9-AF7B-A37940BE3B4F}" type="pres">
      <dgm:prSet presAssocID="{9A4DCD98-A795-4BAC-BE44-2CC730978EDC}" presName="vert1" presStyleCnt="0"/>
      <dgm:spPr/>
    </dgm:pt>
    <dgm:pt modelId="{64EFFAF0-DC58-4AC0-AB47-205781B6F436}" type="pres">
      <dgm:prSet presAssocID="{AD6B86E7-6432-44A0-B4D4-0515221D2A5E}" presName="thickLine" presStyleLbl="alignNode1" presStyleIdx="1" presStyleCnt="6"/>
      <dgm:spPr/>
    </dgm:pt>
    <dgm:pt modelId="{EC7E69CF-1717-49E3-8E93-A4FED16F752E}" type="pres">
      <dgm:prSet presAssocID="{AD6B86E7-6432-44A0-B4D4-0515221D2A5E}" presName="horz1" presStyleCnt="0"/>
      <dgm:spPr/>
    </dgm:pt>
    <dgm:pt modelId="{98480779-842F-4FFA-AC0A-0DD4FE36BE0D}" type="pres">
      <dgm:prSet presAssocID="{AD6B86E7-6432-44A0-B4D4-0515221D2A5E}" presName="tx1" presStyleLbl="revTx" presStyleIdx="1" presStyleCnt="6"/>
      <dgm:spPr/>
    </dgm:pt>
    <dgm:pt modelId="{F153B407-CB45-4D6E-8E4C-B66C231294B5}" type="pres">
      <dgm:prSet presAssocID="{AD6B86E7-6432-44A0-B4D4-0515221D2A5E}" presName="vert1" presStyleCnt="0"/>
      <dgm:spPr/>
    </dgm:pt>
    <dgm:pt modelId="{AE568541-8FB8-4556-AA16-5620E96625D1}" type="pres">
      <dgm:prSet presAssocID="{52C3E2DD-9885-4FDE-A64D-4D594B7CE84C}" presName="thickLine" presStyleLbl="alignNode1" presStyleIdx="2" presStyleCnt="6"/>
      <dgm:spPr/>
    </dgm:pt>
    <dgm:pt modelId="{74EC1171-D82B-43BE-B52C-D2EC028B63CF}" type="pres">
      <dgm:prSet presAssocID="{52C3E2DD-9885-4FDE-A64D-4D594B7CE84C}" presName="horz1" presStyleCnt="0"/>
      <dgm:spPr/>
    </dgm:pt>
    <dgm:pt modelId="{A37D304A-7C02-429E-81A2-2C5EA9896512}" type="pres">
      <dgm:prSet presAssocID="{52C3E2DD-9885-4FDE-A64D-4D594B7CE84C}" presName="tx1" presStyleLbl="revTx" presStyleIdx="2" presStyleCnt="6"/>
      <dgm:spPr/>
    </dgm:pt>
    <dgm:pt modelId="{1CBFE015-E770-4769-84B0-C4CECA83A7D6}" type="pres">
      <dgm:prSet presAssocID="{52C3E2DD-9885-4FDE-A64D-4D594B7CE84C}" presName="vert1" presStyleCnt="0"/>
      <dgm:spPr/>
    </dgm:pt>
    <dgm:pt modelId="{34BC5B92-B2B7-46EF-8E7B-B3E845BBDF91}" type="pres">
      <dgm:prSet presAssocID="{E1AFC070-51FA-4DB4-9725-834D4E3C041B}" presName="thickLine" presStyleLbl="alignNode1" presStyleIdx="3" presStyleCnt="6"/>
      <dgm:spPr/>
    </dgm:pt>
    <dgm:pt modelId="{474CFCEA-28FF-4DB7-A20F-1EEB12F4E9FC}" type="pres">
      <dgm:prSet presAssocID="{E1AFC070-51FA-4DB4-9725-834D4E3C041B}" presName="horz1" presStyleCnt="0"/>
      <dgm:spPr/>
    </dgm:pt>
    <dgm:pt modelId="{F2BE394B-772C-443E-9A57-93EEDD18D3FA}" type="pres">
      <dgm:prSet presAssocID="{E1AFC070-51FA-4DB4-9725-834D4E3C041B}" presName="tx1" presStyleLbl="revTx" presStyleIdx="3" presStyleCnt="6"/>
      <dgm:spPr/>
    </dgm:pt>
    <dgm:pt modelId="{E1C634DF-B203-499A-96B4-2BB647AA555C}" type="pres">
      <dgm:prSet presAssocID="{E1AFC070-51FA-4DB4-9725-834D4E3C041B}" presName="vert1" presStyleCnt="0"/>
      <dgm:spPr/>
    </dgm:pt>
    <dgm:pt modelId="{2DA03EFA-0264-49A1-B284-A9E2560EA975}" type="pres">
      <dgm:prSet presAssocID="{099130A8-EC1F-4A2F-BFE0-0660D2270BB3}" presName="thickLine" presStyleLbl="alignNode1" presStyleIdx="4" presStyleCnt="6"/>
      <dgm:spPr/>
    </dgm:pt>
    <dgm:pt modelId="{6362F929-7D08-482E-B840-CE1DEC89E7A7}" type="pres">
      <dgm:prSet presAssocID="{099130A8-EC1F-4A2F-BFE0-0660D2270BB3}" presName="horz1" presStyleCnt="0"/>
      <dgm:spPr/>
    </dgm:pt>
    <dgm:pt modelId="{9FDD9507-A379-4562-A462-B772E5A0B474}" type="pres">
      <dgm:prSet presAssocID="{099130A8-EC1F-4A2F-BFE0-0660D2270BB3}" presName="tx1" presStyleLbl="revTx" presStyleIdx="4" presStyleCnt="6"/>
      <dgm:spPr/>
    </dgm:pt>
    <dgm:pt modelId="{9F962802-DB38-4BD1-8118-8EB6B1AC7CC2}" type="pres">
      <dgm:prSet presAssocID="{099130A8-EC1F-4A2F-BFE0-0660D2270BB3}" presName="vert1" presStyleCnt="0"/>
      <dgm:spPr/>
    </dgm:pt>
    <dgm:pt modelId="{E5FE4903-D4E6-4131-839A-5AFE24908B91}" type="pres">
      <dgm:prSet presAssocID="{66241C64-31AF-4731-937D-8BAF39725F2E}" presName="thickLine" presStyleLbl="alignNode1" presStyleIdx="5" presStyleCnt="6"/>
      <dgm:spPr/>
    </dgm:pt>
    <dgm:pt modelId="{4232FAE1-754E-45C7-9EA1-35CCA34AD813}" type="pres">
      <dgm:prSet presAssocID="{66241C64-31AF-4731-937D-8BAF39725F2E}" presName="horz1" presStyleCnt="0"/>
      <dgm:spPr/>
    </dgm:pt>
    <dgm:pt modelId="{49E641DB-E0DD-4DC5-83A5-BD20E4B7EEC8}" type="pres">
      <dgm:prSet presAssocID="{66241C64-31AF-4731-937D-8BAF39725F2E}" presName="tx1" presStyleLbl="revTx" presStyleIdx="5" presStyleCnt="6"/>
      <dgm:spPr/>
    </dgm:pt>
    <dgm:pt modelId="{0BD86488-5DEE-4883-A53A-28B72F9B0507}" type="pres">
      <dgm:prSet presAssocID="{66241C64-31AF-4731-937D-8BAF39725F2E}" presName="vert1" presStyleCnt="0"/>
      <dgm:spPr/>
    </dgm:pt>
  </dgm:ptLst>
  <dgm:cxnLst>
    <dgm:cxn modelId="{263F5B26-DBEC-442D-B818-F6D09C6CC726}" type="presOf" srcId="{9A4DCD98-A795-4BAC-BE44-2CC730978EDC}" destId="{DAB7A7B7-B233-4179-8282-C6325E6783D8}" srcOrd="0" destOrd="0" presId="urn:microsoft.com/office/officeart/2008/layout/LinedList"/>
    <dgm:cxn modelId="{FBE3193D-FD9B-42FE-A1EA-3A4AF739E3BA}" type="presOf" srcId="{AD6B86E7-6432-44A0-B4D4-0515221D2A5E}" destId="{98480779-842F-4FFA-AC0A-0DD4FE36BE0D}" srcOrd="0" destOrd="0" presId="urn:microsoft.com/office/officeart/2008/layout/LinedList"/>
    <dgm:cxn modelId="{7DD85947-FCE2-48DA-B24C-BC78C3A73872}" type="presOf" srcId="{E1AFC070-51FA-4DB4-9725-834D4E3C041B}" destId="{F2BE394B-772C-443E-9A57-93EEDD18D3FA}" srcOrd="0" destOrd="0" presId="urn:microsoft.com/office/officeart/2008/layout/LinedList"/>
    <dgm:cxn modelId="{901B8A67-B383-4A8B-834C-4CDBD9E70722}" srcId="{60188AC1-0BC0-4A36-AF73-F85A19153D5B}" destId="{9A4DCD98-A795-4BAC-BE44-2CC730978EDC}" srcOrd="0" destOrd="0" parTransId="{DEC7B3CB-032A-4614-93F7-108538BD3183}" sibTransId="{CFA31323-6586-462F-8A38-4990BF10F50C}"/>
    <dgm:cxn modelId="{CEEA4651-6F1D-42DF-9EEA-03AF5E2988C9}" type="presOf" srcId="{52C3E2DD-9885-4FDE-A64D-4D594B7CE84C}" destId="{A37D304A-7C02-429E-81A2-2C5EA9896512}" srcOrd="0" destOrd="0" presId="urn:microsoft.com/office/officeart/2008/layout/LinedList"/>
    <dgm:cxn modelId="{CE9B8179-D155-49C5-945B-3670A3479C17}" srcId="{60188AC1-0BC0-4A36-AF73-F85A19153D5B}" destId="{E1AFC070-51FA-4DB4-9725-834D4E3C041B}" srcOrd="3" destOrd="0" parTransId="{94CCBA0A-94EA-4CD8-A7AD-E9A56778B7DB}" sibTransId="{68CEE3BF-BAF2-4089-8657-1F8F6A77A542}"/>
    <dgm:cxn modelId="{68040B86-7436-4A0A-BD4F-060611A5807E}" srcId="{60188AC1-0BC0-4A36-AF73-F85A19153D5B}" destId="{52C3E2DD-9885-4FDE-A64D-4D594B7CE84C}" srcOrd="2" destOrd="0" parTransId="{29A145F2-6AB8-4EF9-B3FA-FA37574924F5}" sibTransId="{EB855DEA-9F09-4205-A7EA-F8927A11D470}"/>
    <dgm:cxn modelId="{74621D88-E747-4625-86C9-5611C956D029}" type="presOf" srcId="{66241C64-31AF-4731-937D-8BAF39725F2E}" destId="{49E641DB-E0DD-4DC5-83A5-BD20E4B7EEC8}" srcOrd="0" destOrd="0" presId="urn:microsoft.com/office/officeart/2008/layout/LinedList"/>
    <dgm:cxn modelId="{EF2C6AB1-3E18-4BFD-AE4C-9D7F2240BEA6}" srcId="{60188AC1-0BC0-4A36-AF73-F85A19153D5B}" destId="{66241C64-31AF-4731-937D-8BAF39725F2E}" srcOrd="5" destOrd="0" parTransId="{440CB315-4752-4888-86BA-F2C284CAE921}" sibTransId="{A4C8F310-4BD9-4D5E-B050-8B7A348DE6D0}"/>
    <dgm:cxn modelId="{26D84DBB-8A36-4380-A135-871CC601B44B}" srcId="{60188AC1-0BC0-4A36-AF73-F85A19153D5B}" destId="{AD6B86E7-6432-44A0-B4D4-0515221D2A5E}" srcOrd="1" destOrd="0" parTransId="{71D77E20-EDE0-432C-8D2D-13E5AF1C032D}" sibTransId="{282BA90D-F3EF-49D5-9FD8-F9CF9726E08A}"/>
    <dgm:cxn modelId="{05EC35C4-3F29-47F7-9353-865EF9800D4C}" type="presOf" srcId="{60188AC1-0BC0-4A36-AF73-F85A19153D5B}" destId="{4984738F-3C7E-43CF-B9CE-247F3532E3D0}" srcOrd="0" destOrd="0" presId="urn:microsoft.com/office/officeart/2008/layout/LinedList"/>
    <dgm:cxn modelId="{DFF50CC9-818D-4259-B092-5F5F59096747}" type="presOf" srcId="{099130A8-EC1F-4A2F-BFE0-0660D2270BB3}" destId="{9FDD9507-A379-4562-A462-B772E5A0B474}" srcOrd="0" destOrd="0" presId="urn:microsoft.com/office/officeart/2008/layout/LinedList"/>
    <dgm:cxn modelId="{A3DB95F5-D899-42EC-AD65-3F47483068E6}" srcId="{60188AC1-0BC0-4A36-AF73-F85A19153D5B}" destId="{099130A8-EC1F-4A2F-BFE0-0660D2270BB3}" srcOrd="4" destOrd="0" parTransId="{B2275991-AC82-4559-B788-3A22F6411388}" sibTransId="{D43DA9C2-03B3-4A9C-BE43-B1FFA5DFFA3C}"/>
    <dgm:cxn modelId="{FAFF4A50-F3B1-4C38-8C44-CC8CF5320195}" type="presParOf" srcId="{4984738F-3C7E-43CF-B9CE-247F3532E3D0}" destId="{1619E554-852A-4E21-B9C1-2B3DFEFFD86D}" srcOrd="0" destOrd="0" presId="urn:microsoft.com/office/officeart/2008/layout/LinedList"/>
    <dgm:cxn modelId="{7620481B-1937-4947-A405-F78A3BAE192B}" type="presParOf" srcId="{4984738F-3C7E-43CF-B9CE-247F3532E3D0}" destId="{12F37093-6DA8-47BB-AC98-73FC3FAC0348}" srcOrd="1" destOrd="0" presId="urn:microsoft.com/office/officeart/2008/layout/LinedList"/>
    <dgm:cxn modelId="{C98545D4-944B-4387-9A16-53FA374B900B}" type="presParOf" srcId="{12F37093-6DA8-47BB-AC98-73FC3FAC0348}" destId="{DAB7A7B7-B233-4179-8282-C6325E6783D8}" srcOrd="0" destOrd="0" presId="urn:microsoft.com/office/officeart/2008/layout/LinedList"/>
    <dgm:cxn modelId="{3F610BC0-1270-46F1-A1A2-B1A1E9C6B932}" type="presParOf" srcId="{12F37093-6DA8-47BB-AC98-73FC3FAC0348}" destId="{5A35DDEF-CFFB-43A9-AF7B-A37940BE3B4F}" srcOrd="1" destOrd="0" presId="urn:microsoft.com/office/officeart/2008/layout/LinedList"/>
    <dgm:cxn modelId="{E1D99302-9E52-4128-867F-3412B494F3B4}" type="presParOf" srcId="{4984738F-3C7E-43CF-B9CE-247F3532E3D0}" destId="{64EFFAF0-DC58-4AC0-AB47-205781B6F436}" srcOrd="2" destOrd="0" presId="urn:microsoft.com/office/officeart/2008/layout/LinedList"/>
    <dgm:cxn modelId="{D784CE53-CFC3-4E61-A197-B1A728A1EA3A}" type="presParOf" srcId="{4984738F-3C7E-43CF-B9CE-247F3532E3D0}" destId="{EC7E69CF-1717-49E3-8E93-A4FED16F752E}" srcOrd="3" destOrd="0" presId="urn:microsoft.com/office/officeart/2008/layout/LinedList"/>
    <dgm:cxn modelId="{A67ED7A0-ECAE-4B42-96FF-944B4CE65F28}" type="presParOf" srcId="{EC7E69CF-1717-49E3-8E93-A4FED16F752E}" destId="{98480779-842F-4FFA-AC0A-0DD4FE36BE0D}" srcOrd="0" destOrd="0" presId="urn:microsoft.com/office/officeart/2008/layout/LinedList"/>
    <dgm:cxn modelId="{C5EEBCBB-5394-4BF6-909E-C5376C187414}" type="presParOf" srcId="{EC7E69CF-1717-49E3-8E93-A4FED16F752E}" destId="{F153B407-CB45-4D6E-8E4C-B66C231294B5}" srcOrd="1" destOrd="0" presId="urn:microsoft.com/office/officeart/2008/layout/LinedList"/>
    <dgm:cxn modelId="{0164AC5B-EEF0-40EC-A0BF-D9F9D973359D}" type="presParOf" srcId="{4984738F-3C7E-43CF-B9CE-247F3532E3D0}" destId="{AE568541-8FB8-4556-AA16-5620E96625D1}" srcOrd="4" destOrd="0" presId="urn:microsoft.com/office/officeart/2008/layout/LinedList"/>
    <dgm:cxn modelId="{B2D5FD12-032C-4164-9674-28CEC4593CF5}" type="presParOf" srcId="{4984738F-3C7E-43CF-B9CE-247F3532E3D0}" destId="{74EC1171-D82B-43BE-B52C-D2EC028B63CF}" srcOrd="5" destOrd="0" presId="urn:microsoft.com/office/officeart/2008/layout/LinedList"/>
    <dgm:cxn modelId="{0DA33D46-F3AF-4E81-9F7C-B1DAAD8C6338}" type="presParOf" srcId="{74EC1171-D82B-43BE-B52C-D2EC028B63CF}" destId="{A37D304A-7C02-429E-81A2-2C5EA9896512}" srcOrd="0" destOrd="0" presId="urn:microsoft.com/office/officeart/2008/layout/LinedList"/>
    <dgm:cxn modelId="{AAA578A2-F6F6-4911-95D7-C2145560C374}" type="presParOf" srcId="{74EC1171-D82B-43BE-B52C-D2EC028B63CF}" destId="{1CBFE015-E770-4769-84B0-C4CECA83A7D6}" srcOrd="1" destOrd="0" presId="urn:microsoft.com/office/officeart/2008/layout/LinedList"/>
    <dgm:cxn modelId="{6AC80A4F-636A-4D60-BB13-89F43EF9EFE3}" type="presParOf" srcId="{4984738F-3C7E-43CF-B9CE-247F3532E3D0}" destId="{34BC5B92-B2B7-46EF-8E7B-B3E845BBDF91}" srcOrd="6" destOrd="0" presId="urn:microsoft.com/office/officeart/2008/layout/LinedList"/>
    <dgm:cxn modelId="{97F98B87-E41E-4B37-B599-8A095E0816D1}" type="presParOf" srcId="{4984738F-3C7E-43CF-B9CE-247F3532E3D0}" destId="{474CFCEA-28FF-4DB7-A20F-1EEB12F4E9FC}" srcOrd="7" destOrd="0" presId="urn:microsoft.com/office/officeart/2008/layout/LinedList"/>
    <dgm:cxn modelId="{5E28CE66-B0D1-442E-AEC0-A37E9D4D2E9D}" type="presParOf" srcId="{474CFCEA-28FF-4DB7-A20F-1EEB12F4E9FC}" destId="{F2BE394B-772C-443E-9A57-93EEDD18D3FA}" srcOrd="0" destOrd="0" presId="urn:microsoft.com/office/officeart/2008/layout/LinedList"/>
    <dgm:cxn modelId="{20B03E76-24B0-48F1-BA41-B82B3398A445}" type="presParOf" srcId="{474CFCEA-28FF-4DB7-A20F-1EEB12F4E9FC}" destId="{E1C634DF-B203-499A-96B4-2BB647AA555C}" srcOrd="1" destOrd="0" presId="urn:microsoft.com/office/officeart/2008/layout/LinedList"/>
    <dgm:cxn modelId="{6EB473BC-4FBE-49F5-9BB6-35B998AE7AE4}" type="presParOf" srcId="{4984738F-3C7E-43CF-B9CE-247F3532E3D0}" destId="{2DA03EFA-0264-49A1-B284-A9E2560EA975}" srcOrd="8" destOrd="0" presId="urn:microsoft.com/office/officeart/2008/layout/LinedList"/>
    <dgm:cxn modelId="{18305D3C-2C92-440D-881C-665F812508D5}" type="presParOf" srcId="{4984738F-3C7E-43CF-B9CE-247F3532E3D0}" destId="{6362F929-7D08-482E-B840-CE1DEC89E7A7}" srcOrd="9" destOrd="0" presId="urn:microsoft.com/office/officeart/2008/layout/LinedList"/>
    <dgm:cxn modelId="{2ABC8BF9-0AB0-425F-8375-D2867A08E925}" type="presParOf" srcId="{6362F929-7D08-482E-B840-CE1DEC89E7A7}" destId="{9FDD9507-A379-4562-A462-B772E5A0B474}" srcOrd="0" destOrd="0" presId="urn:microsoft.com/office/officeart/2008/layout/LinedList"/>
    <dgm:cxn modelId="{25CE3070-DBB9-4001-8665-5862CB6E4F53}" type="presParOf" srcId="{6362F929-7D08-482E-B840-CE1DEC89E7A7}" destId="{9F962802-DB38-4BD1-8118-8EB6B1AC7CC2}" srcOrd="1" destOrd="0" presId="urn:microsoft.com/office/officeart/2008/layout/LinedList"/>
    <dgm:cxn modelId="{A93FC69E-93E9-4208-A39E-9580B742BE93}" type="presParOf" srcId="{4984738F-3C7E-43CF-B9CE-247F3532E3D0}" destId="{E5FE4903-D4E6-4131-839A-5AFE24908B91}" srcOrd="10" destOrd="0" presId="urn:microsoft.com/office/officeart/2008/layout/LinedList"/>
    <dgm:cxn modelId="{E25E9FA3-4053-403D-9659-BEB9FEB66F44}" type="presParOf" srcId="{4984738F-3C7E-43CF-B9CE-247F3532E3D0}" destId="{4232FAE1-754E-45C7-9EA1-35CCA34AD813}" srcOrd="11" destOrd="0" presId="urn:microsoft.com/office/officeart/2008/layout/LinedList"/>
    <dgm:cxn modelId="{AD9FE47D-3F37-417A-8368-87EAAC8416B2}" type="presParOf" srcId="{4232FAE1-754E-45C7-9EA1-35CCA34AD813}" destId="{49E641DB-E0DD-4DC5-83A5-BD20E4B7EEC8}" srcOrd="0" destOrd="0" presId="urn:microsoft.com/office/officeart/2008/layout/LinedList"/>
    <dgm:cxn modelId="{DB819FB9-657B-4DA3-AEB1-0A82A9C45244}" type="presParOf" srcId="{4232FAE1-754E-45C7-9EA1-35CCA34AD813}" destId="{0BD86488-5DEE-4883-A53A-28B72F9B05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25F499-6565-49FF-BA38-51F4524BF96A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D985005-4404-4722-AD50-5837DFED3262}">
      <dgm:prSet/>
      <dgm:spPr/>
      <dgm:t>
        <a:bodyPr/>
        <a:lstStyle/>
        <a:p>
          <a:r>
            <a:rPr lang="en-US"/>
            <a:t>After enabling GuardDuty, we checked the Summary and Findings dashboards.</a:t>
          </a:r>
        </a:p>
      </dgm:t>
    </dgm:pt>
    <dgm:pt modelId="{2D01CA60-400B-4120-92CB-6BFD8C492091}" type="parTrans" cxnId="{F4435A1E-EE82-4BFB-A13F-BCD7C5428ACD}">
      <dgm:prSet/>
      <dgm:spPr/>
      <dgm:t>
        <a:bodyPr/>
        <a:lstStyle/>
        <a:p>
          <a:endParaRPr lang="en-US"/>
        </a:p>
      </dgm:t>
    </dgm:pt>
    <dgm:pt modelId="{7AA5A6F7-D703-4FE2-9D29-EC913F4130AD}" type="sibTrans" cxnId="{F4435A1E-EE82-4BFB-A13F-BCD7C5428ACD}">
      <dgm:prSet/>
      <dgm:spPr/>
      <dgm:t>
        <a:bodyPr/>
        <a:lstStyle/>
        <a:p>
          <a:endParaRPr lang="en-US"/>
        </a:p>
      </dgm:t>
    </dgm:pt>
    <dgm:pt modelId="{A1FCDE50-83BC-4FF2-AECE-C519578FF5C4}">
      <dgm:prSet/>
      <dgm:spPr/>
      <dgm:t>
        <a:bodyPr/>
        <a:lstStyle/>
        <a:p>
          <a:r>
            <a:rPr lang="en-US"/>
            <a:t>Our GuardDuty results showed </a:t>
          </a:r>
          <a:r>
            <a:rPr lang="en-US" b="1"/>
            <a:t>0 findings</a:t>
          </a:r>
          <a:r>
            <a:rPr lang="en-US"/>
            <a:t>, which means:</a:t>
          </a:r>
        </a:p>
      </dgm:t>
    </dgm:pt>
    <dgm:pt modelId="{D98DE765-96EE-4EEE-9444-97948B1DD0FE}" type="parTrans" cxnId="{D9720C88-2BC8-45C3-8BEF-62657D2E70AD}">
      <dgm:prSet/>
      <dgm:spPr/>
      <dgm:t>
        <a:bodyPr/>
        <a:lstStyle/>
        <a:p>
          <a:endParaRPr lang="en-US"/>
        </a:p>
      </dgm:t>
    </dgm:pt>
    <dgm:pt modelId="{BC270D63-C523-4D06-8A67-9131218312D9}" type="sibTrans" cxnId="{D9720C88-2BC8-45C3-8BEF-62657D2E70AD}">
      <dgm:prSet/>
      <dgm:spPr/>
      <dgm:t>
        <a:bodyPr/>
        <a:lstStyle/>
        <a:p>
          <a:endParaRPr lang="en-US"/>
        </a:p>
      </dgm:t>
    </dgm:pt>
    <dgm:pt modelId="{AB957260-0B8A-4FE6-BD78-CB245453F969}">
      <dgm:prSet/>
      <dgm:spPr/>
      <dgm:t>
        <a:bodyPr/>
        <a:lstStyle/>
        <a:p>
          <a:r>
            <a:rPr lang="en-US"/>
            <a:t>No brute-force attempts</a:t>
          </a:r>
        </a:p>
      </dgm:t>
    </dgm:pt>
    <dgm:pt modelId="{A49EE414-AAA0-4F7A-B8E1-457F920F29D4}" type="parTrans" cxnId="{0A3ADE58-FD87-44F5-8649-B8FFCF60B591}">
      <dgm:prSet/>
      <dgm:spPr/>
      <dgm:t>
        <a:bodyPr/>
        <a:lstStyle/>
        <a:p>
          <a:endParaRPr lang="en-US"/>
        </a:p>
      </dgm:t>
    </dgm:pt>
    <dgm:pt modelId="{A20740EA-F931-4AD6-B10E-00D2992E05ED}" type="sibTrans" cxnId="{0A3ADE58-FD87-44F5-8649-B8FFCF60B591}">
      <dgm:prSet/>
      <dgm:spPr/>
      <dgm:t>
        <a:bodyPr/>
        <a:lstStyle/>
        <a:p>
          <a:endParaRPr lang="en-US"/>
        </a:p>
      </dgm:t>
    </dgm:pt>
    <dgm:pt modelId="{6F9B6B19-F50F-49E1-B6BD-D8584FC27B74}">
      <dgm:prSet/>
      <dgm:spPr/>
      <dgm:t>
        <a:bodyPr/>
        <a:lstStyle/>
        <a:p>
          <a:r>
            <a:rPr lang="en-US"/>
            <a:t>No suspicious IP addresses</a:t>
          </a:r>
        </a:p>
      </dgm:t>
    </dgm:pt>
    <dgm:pt modelId="{E424526F-8E44-41ED-A809-61E33E9D54BE}" type="parTrans" cxnId="{78AA8014-07A2-43FA-9F07-FE0D3A382172}">
      <dgm:prSet/>
      <dgm:spPr/>
      <dgm:t>
        <a:bodyPr/>
        <a:lstStyle/>
        <a:p>
          <a:endParaRPr lang="en-US"/>
        </a:p>
      </dgm:t>
    </dgm:pt>
    <dgm:pt modelId="{71A2D2F3-C959-4AE3-BBA9-EC232CA11266}" type="sibTrans" cxnId="{78AA8014-07A2-43FA-9F07-FE0D3A382172}">
      <dgm:prSet/>
      <dgm:spPr/>
      <dgm:t>
        <a:bodyPr/>
        <a:lstStyle/>
        <a:p>
          <a:endParaRPr lang="en-US"/>
        </a:p>
      </dgm:t>
    </dgm:pt>
    <dgm:pt modelId="{43BE470C-9F79-4788-B6AF-B1EFC99FEE67}">
      <dgm:prSet/>
      <dgm:spPr/>
      <dgm:t>
        <a:bodyPr/>
        <a:lstStyle/>
        <a:p>
          <a:r>
            <a:rPr lang="en-US"/>
            <a:t>No unusual API behavior</a:t>
          </a:r>
        </a:p>
      </dgm:t>
    </dgm:pt>
    <dgm:pt modelId="{FD1348FF-A1F3-46FB-B915-AE933D21308B}" type="parTrans" cxnId="{5044C5A4-2BDA-4AEF-AC88-277FF049A27A}">
      <dgm:prSet/>
      <dgm:spPr/>
      <dgm:t>
        <a:bodyPr/>
        <a:lstStyle/>
        <a:p>
          <a:endParaRPr lang="en-US"/>
        </a:p>
      </dgm:t>
    </dgm:pt>
    <dgm:pt modelId="{02710AEC-7915-44D0-8E2B-2C342942C12C}" type="sibTrans" cxnId="{5044C5A4-2BDA-4AEF-AC88-277FF049A27A}">
      <dgm:prSet/>
      <dgm:spPr/>
      <dgm:t>
        <a:bodyPr/>
        <a:lstStyle/>
        <a:p>
          <a:endParaRPr lang="en-US"/>
        </a:p>
      </dgm:t>
    </dgm:pt>
    <dgm:pt modelId="{91898102-74F1-4058-97F8-4395D0040036}">
      <dgm:prSet/>
      <dgm:spPr/>
      <dgm:t>
        <a:bodyPr/>
        <a:lstStyle/>
        <a:p>
          <a:r>
            <a:rPr lang="en-US"/>
            <a:t>No compromised EC2 instances</a:t>
          </a:r>
        </a:p>
      </dgm:t>
    </dgm:pt>
    <dgm:pt modelId="{EF563D3A-A5DC-41BC-9F51-F0CE64D3BD89}" type="parTrans" cxnId="{3165472A-B2F3-4091-85C4-9EAD34FE900A}">
      <dgm:prSet/>
      <dgm:spPr/>
      <dgm:t>
        <a:bodyPr/>
        <a:lstStyle/>
        <a:p>
          <a:endParaRPr lang="en-US"/>
        </a:p>
      </dgm:t>
    </dgm:pt>
    <dgm:pt modelId="{D2557CCF-F790-459B-AC67-0C8B820FD0FB}" type="sibTrans" cxnId="{3165472A-B2F3-4091-85C4-9EAD34FE900A}">
      <dgm:prSet/>
      <dgm:spPr/>
      <dgm:t>
        <a:bodyPr/>
        <a:lstStyle/>
        <a:p>
          <a:endParaRPr lang="en-US"/>
        </a:p>
      </dgm:t>
    </dgm:pt>
    <dgm:pt modelId="{0A8EC4C7-9485-4782-8D2D-F60FDB12E00F}">
      <dgm:prSet/>
      <dgm:spPr/>
      <dgm:t>
        <a:bodyPr/>
        <a:lstStyle/>
        <a:p>
          <a:r>
            <a:rPr lang="en-US"/>
            <a:t>Even though there were no alerts, enabling GuardDuty is still very important.</a:t>
          </a:r>
          <a:br>
            <a:rPr lang="en-US"/>
          </a:br>
          <a:r>
            <a:rPr lang="en-US"/>
            <a:t> It ensures that if anything dangerous does happen in the future, we will get notified immediately.</a:t>
          </a:r>
        </a:p>
      </dgm:t>
    </dgm:pt>
    <dgm:pt modelId="{960DAB45-5190-4F87-B942-52885E571D22}" type="parTrans" cxnId="{4143A05E-96E5-41D3-89CA-5FD9D94AE6F0}">
      <dgm:prSet/>
      <dgm:spPr/>
      <dgm:t>
        <a:bodyPr/>
        <a:lstStyle/>
        <a:p>
          <a:endParaRPr lang="en-US"/>
        </a:p>
      </dgm:t>
    </dgm:pt>
    <dgm:pt modelId="{35BD8CAB-DCD7-4D7F-B137-80AC23FF6C21}" type="sibTrans" cxnId="{4143A05E-96E5-41D3-89CA-5FD9D94AE6F0}">
      <dgm:prSet/>
      <dgm:spPr/>
      <dgm:t>
        <a:bodyPr/>
        <a:lstStyle/>
        <a:p>
          <a:endParaRPr lang="en-US"/>
        </a:p>
      </dgm:t>
    </dgm:pt>
    <dgm:pt modelId="{658B7822-E2F0-49E9-9B78-BE3AEF3D33A6}" type="pres">
      <dgm:prSet presAssocID="{3B25F499-6565-49FF-BA38-51F4524BF96A}" presName="diagram" presStyleCnt="0">
        <dgm:presLayoutVars>
          <dgm:dir/>
          <dgm:resizeHandles val="exact"/>
        </dgm:presLayoutVars>
      </dgm:prSet>
      <dgm:spPr/>
    </dgm:pt>
    <dgm:pt modelId="{A8134F66-232C-44B8-81AE-94A5AE747310}" type="pres">
      <dgm:prSet presAssocID="{BD985005-4404-4722-AD50-5837DFED3262}" presName="node" presStyleLbl="node1" presStyleIdx="0" presStyleCnt="7">
        <dgm:presLayoutVars>
          <dgm:bulletEnabled val="1"/>
        </dgm:presLayoutVars>
      </dgm:prSet>
      <dgm:spPr/>
    </dgm:pt>
    <dgm:pt modelId="{5C4F1330-8D96-48C2-BD23-F26BEA763846}" type="pres">
      <dgm:prSet presAssocID="{7AA5A6F7-D703-4FE2-9D29-EC913F4130AD}" presName="sibTrans" presStyleCnt="0"/>
      <dgm:spPr/>
    </dgm:pt>
    <dgm:pt modelId="{008F4950-7534-41F6-A4C8-E039BE9072DD}" type="pres">
      <dgm:prSet presAssocID="{A1FCDE50-83BC-4FF2-AECE-C519578FF5C4}" presName="node" presStyleLbl="node1" presStyleIdx="1" presStyleCnt="7">
        <dgm:presLayoutVars>
          <dgm:bulletEnabled val="1"/>
        </dgm:presLayoutVars>
      </dgm:prSet>
      <dgm:spPr/>
    </dgm:pt>
    <dgm:pt modelId="{F3A85B33-36B9-4DC2-AF99-A7E2C6B9C273}" type="pres">
      <dgm:prSet presAssocID="{BC270D63-C523-4D06-8A67-9131218312D9}" presName="sibTrans" presStyleCnt="0"/>
      <dgm:spPr/>
    </dgm:pt>
    <dgm:pt modelId="{A4C177DD-4C20-4504-AC1B-EFF83C9259C6}" type="pres">
      <dgm:prSet presAssocID="{AB957260-0B8A-4FE6-BD78-CB245453F969}" presName="node" presStyleLbl="node1" presStyleIdx="2" presStyleCnt="7">
        <dgm:presLayoutVars>
          <dgm:bulletEnabled val="1"/>
        </dgm:presLayoutVars>
      </dgm:prSet>
      <dgm:spPr/>
    </dgm:pt>
    <dgm:pt modelId="{91B766AC-ED62-4F82-9335-49F3F068DAE4}" type="pres">
      <dgm:prSet presAssocID="{A20740EA-F931-4AD6-B10E-00D2992E05ED}" presName="sibTrans" presStyleCnt="0"/>
      <dgm:spPr/>
    </dgm:pt>
    <dgm:pt modelId="{78AF9CB0-D361-459C-A3BA-21C0134DC169}" type="pres">
      <dgm:prSet presAssocID="{6F9B6B19-F50F-49E1-B6BD-D8584FC27B74}" presName="node" presStyleLbl="node1" presStyleIdx="3" presStyleCnt="7">
        <dgm:presLayoutVars>
          <dgm:bulletEnabled val="1"/>
        </dgm:presLayoutVars>
      </dgm:prSet>
      <dgm:spPr/>
    </dgm:pt>
    <dgm:pt modelId="{706E19EE-03F1-4EBB-91BD-401710868317}" type="pres">
      <dgm:prSet presAssocID="{71A2D2F3-C959-4AE3-BBA9-EC232CA11266}" presName="sibTrans" presStyleCnt="0"/>
      <dgm:spPr/>
    </dgm:pt>
    <dgm:pt modelId="{9336D2C8-6A5D-44D5-A0AE-45BAD6D8DCF2}" type="pres">
      <dgm:prSet presAssocID="{43BE470C-9F79-4788-B6AF-B1EFC99FEE67}" presName="node" presStyleLbl="node1" presStyleIdx="4" presStyleCnt="7">
        <dgm:presLayoutVars>
          <dgm:bulletEnabled val="1"/>
        </dgm:presLayoutVars>
      </dgm:prSet>
      <dgm:spPr/>
    </dgm:pt>
    <dgm:pt modelId="{A9E871A6-B7AC-4292-A617-5152962544A0}" type="pres">
      <dgm:prSet presAssocID="{02710AEC-7915-44D0-8E2B-2C342942C12C}" presName="sibTrans" presStyleCnt="0"/>
      <dgm:spPr/>
    </dgm:pt>
    <dgm:pt modelId="{7B4BA50C-C5E6-478E-96BA-380205D4138D}" type="pres">
      <dgm:prSet presAssocID="{91898102-74F1-4058-97F8-4395D0040036}" presName="node" presStyleLbl="node1" presStyleIdx="5" presStyleCnt="7">
        <dgm:presLayoutVars>
          <dgm:bulletEnabled val="1"/>
        </dgm:presLayoutVars>
      </dgm:prSet>
      <dgm:spPr/>
    </dgm:pt>
    <dgm:pt modelId="{6D2DB544-386A-476E-B545-58D237BACF1E}" type="pres">
      <dgm:prSet presAssocID="{D2557CCF-F790-459B-AC67-0C8B820FD0FB}" presName="sibTrans" presStyleCnt="0"/>
      <dgm:spPr/>
    </dgm:pt>
    <dgm:pt modelId="{8F2A6831-E14F-49BF-A149-9704D1510DF4}" type="pres">
      <dgm:prSet presAssocID="{0A8EC4C7-9485-4782-8D2D-F60FDB12E00F}" presName="node" presStyleLbl="node1" presStyleIdx="6" presStyleCnt="7">
        <dgm:presLayoutVars>
          <dgm:bulletEnabled val="1"/>
        </dgm:presLayoutVars>
      </dgm:prSet>
      <dgm:spPr/>
    </dgm:pt>
  </dgm:ptLst>
  <dgm:cxnLst>
    <dgm:cxn modelId="{B239C606-0642-4D91-8840-D6369AC4F62C}" type="presOf" srcId="{AB957260-0B8A-4FE6-BD78-CB245453F969}" destId="{A4C177DD-4C20-4504-AC1B-EFF83C9259C6}" srcOrd="0" destOrd="0" presId="urn:microsoft.com/office/officeart/2005/8/layout/default"/>
    <dgm:cxn modelId="{6871F613-E4FB-4882-BB47-B7CCE393776D}" type="presOf" srcId="{3B25F499-6565-49FF-BA38-51F4524BF96A}" destId="{658B7822-E2F0-49E9-9B78-BE3AEF3D33A6}" srcOrd="0" destOrd="0" presId="urn:microsoft.com/office/officeart/2005/8/layout/default"/>
    <dgm:cxn modelId="{78AA8014-07A2-43FA-9F07-FE0D3A382172}" srcId="{3B25F499-6565-49FF-BA38-51F4524BF96A}" destId="{6F9B6B19-F50F-49E1-B6BD-D8584FC27B74}" srcOrd="3" destOrd="0" parTransId="{E424526F-8E44-41ED-A809-61E33E9D54BE}" sibTransId="{71A2D2F3-C959-4AE3-BBA9-EC232CA11266}"/>
    <dgm:cxn modelId="{EC01B81B-9D29-42B3-B7E8-685C6B12438A}" type="presOf" srcId="{0A8EC4C7-9485-4782-8D2D-F60FDB12E00F}" destId="{8F2A6831-E14F-49BF-A149-9704D1510DF4}" srcOrd="0" destOrd="0" presId="urn:microsoft.com/office/officeart/2005/8/layout/default"/>
    <dgm:cxn modelId="{F4435A1E-EE82-4BFB-A13F-BCD7C5428ACD}" srcId="{3B25F499-6565-49FF-BA38-51F4524BF96A}" destId="{BD985005-4404-4722-AD50-5837DFED3262}" srcOrd="0" destOrd="0" parTransId="{2D01CA60-400B-4120-92CB-6BFD8C492091}" sibTransId="{7AA5A6F7-D703-4FE2-9D29-EC913F4130AD}"/>
    <dgm:cxn modelId="{3165472A-B2F3-4091-85C4-9EAD34FE900A}" srcId="{3B25F499-6565-49FF-BA38-51F4524BF96A}" destId="{91898102-74F1-4058-97F8-4395D0040036}" srcOrd="5" destOrd="0" parTransId="{EF563D3A-A5DC-41BC-9F51-F0CE64D3BD89}" sibTransId="{D2557CCF-F790-459B-AC67-0C8B820FD0FB}"/>
    <dgm:cxn modelId="{C74B903D-F308-49A1-B139-DED6617D8EFB}" type="presOf" srcId="{6F9B6B19-F50F-49E1-B6BD-D8584FC27B74}" destId="{78AF9CB0-D361-459C-A3BA-21C0134DC169}" srcOrd="0" destOrd="0" presId="urn:microsoft.com/office/officeart/2005/8/layout/default"/>
    <dgm:cxn modelId="{4143A05E-96E5-41D3-89CA-5FD9D94AE6F0}" srcId="{3B25F499-6565-49FF-BA38-51F4524BF96A}" destId="{0A8EC4C7-9485-4782-8D2D-F60FDB12E00F}" srcOrd="6" destOrd="0" parTransId="{960DAB45-5190-4F87-B942-52885E571D22}" sibTransId="{35BD8CAB-DCD7-4D7F-B137-80AC23FF6C21}"/>
    <dgm:cxn modelId="{7D9A6D70-8F15-4F82-975C-2912AB09D5E9}" type="presOf" srcId="{43BE470C-9F79-4788-B6AF-B1EFC99FEE67}" destId="{9336D2C8-6A5D-44D5-A0AE-45BAD6D8DCF2}" srcOrd="0" destOrd="0" presId="urn:microsoft.com/office/officeart/2005/8/layout/default"/>
    <dgm:cxn modelId="{0A3ADE58-FD87-44F5-8649-B8FFCF60B591}" srcId="{3B25F499-6565-49FF-BA38-51F4524BF96A}" destId="{AB957260-0B8A-4FE6-BD78-CB245453F969}" srcOrd="2" destOrd="0" parTransId="{A49EE414-AAA0-4F7A-B8E1-457F920F29D4}" sibTransId="{A20740EA-F931-4AD6-B10E-00D2992E05ED}"/>
    <dgm:cxn modelId="{01BE2D83-0E08-44D3-B4C8-37908E6F6961}" type="presOf" srcId="{BD985005-4404-4722-AD50-5837DFED3262}" destId="{A8134F66-232C-44B8-81AE-94A5AE747310}" srcOrd="0" destOrd="0" presId="urn:microsoft.com/office/officeart/2005/8/layout/default"/>
    <dgm:cxn modelId="{D9720C88-2BC8-45C3-8BEF-62657D2E70AD}" srcId="{3B25F499-6565-49FF-BA38-51F4524BF96A}" destId="{A1FCDE50-83BC-4FF2-AECE-C519578FF5C4}" srcOrd="1" destOrd="0" parTransId="{D98DE765-96EE-4EEE-9444-97948B1DD0FE}" sibTransId="{BC270D63-C523-4D06-8A67-9131218312D9}"/>
    <dgm:cxn modelId="{5044C5A4-2BDA-4AEF-AC88-277FF049A27A}" srcId="{3B25F499-6565-49FF-BA38-51F4524BF96A}" destId="{43BE470C-9F79-4788-B6AF-B1EFC99FEE67}" srcOrd="4" destOrd="0" parTransId="{FD1348FF-A1F3-46FB-B915-AE933D21308B}" sibTransId="{02710AEC-7915-44D0-8E2B-2C342942C12C}"/>
    <dgm:cxn modelId="{D81A37C9-6CAC-484F-B192-902F44AE007E}" type="presOf" srcId="{A1FCDE50-83BC-4FF2-AECE-C519578FF5C4}" destId="{008F4950-7534-41F6-A4C8-E039BE9072DD}" srcOrd="0" destOrd="0" presId="urn:microsoft.com/office/officeart/2005/8/layout/default"/>
    <dgm:cxn modelId="{D2527ACD-9A61-4E8B-B1F0-D8B21FC60893}" type="presOf" srcId="{91898102-74F1-4058-97F8-4395D0040036}" destId="{7B4BA50C-C5E6-478E-96BA-380205D4138D}" srcOrd="0" destOrd="0" presId="urn:microsoft.com/office/officeart/2005/8/layout/default"/>
    <dgm:cxn modelId="{F1783E38-F62C-4C92-92E3-06C8A8D643DF}" type="presParOf" srcId="{658B7822-E2F0-49E9-9B78-BE3AEF3D33A6}" destId="{A8134F66-232C-44B8-81AE-94A5AE747310}" srcOrd="0" destOrd="0" presId="urn:microsoft.com/office/officeart/2005/8/layout/default"/>
    <dgm:cxn modelId="{565EE616-FB20-4EBC-BC26-100573653CAD}" type="presParOf" srcId="{658B7822-E2F0-49E9-9B78-BE3AEF3D33A6}" destId="{5C4F1330-8D96-48C2-BD23-F26BEA763846}" srcOrd="1" destOrd="0" presId="urn:microsoft.com/office/officeart/2005/8/layout/default"/>
    <dgm:cxn modelId="{B77373C2-9E98-4572-B7D0-8249ED76D986}" type="presParOf" srcId="{658B7822-E2F0-49E9-9B78-BE3AEF3D33A6}" destId="{008F4950-7534-41F6-A4C8-E039BE9072DD}" srcOrd="2" destOrd="0" presId="urn:microsoft.com/office/officeart/2005/8/layout/default"/>
    <dgm:cxn modelId="{5CA09AB6-048C-4A1B-8AB6-24949FA105DB}" type="presParOf" srcId="{658B7822-E2F0-49E9-9B78-BE3AEF3D33A6}" destId="{F3A85B33-36B9-4DC2-AF99-A7E2C6B9C273}" srcOrd="3" destOrd="0" presId="urn:microsoft.com/office/officeart/2005/8/layout/default"/>
    <dgm:cxn modelId="{CA30B57F-41E9-4501-805D-7540225DC2F0}" type="presParOf" srcId="{658B7822-E2F0-49E9-9B78-BE3AEF3D33A6}" destId="{A4C177DD-4C20-4504-AC1B-EFF83C9259C6}" srcOrd="4" destOrd="0" presId="urn:microsoft.com/office/officeart/2005/8/layout/default"/>
    <dgm:cxn modelId="{5C557AFD-B9E7-470E-97E8-97AD341EB0B7}" type="presParOf" srcId="{658B7822-E2F0-49E9-9B78-BE3AEF3D33A6}" destId="{91B766AC-ED62-4F82-9335-49F3F068DAE4}" srcOrd="5" destOrd="0" presId="urn:microsoft.com/office/officeart/2005/8/layout/default"/>
    <dgm:cxn modelId="{B4B548DE-9D5A-4FA4-B9ED-CF1EE8907BB5}" type="presParOf" srcId="{658B7822-E2F0-49E9-9B78-BE3AEF3D33A6}" destId="{78AF9CB0-D361-459C-A3BA-21C0134DC169}" srcOrd="6" destOrd="0" presId="urn:microsoft.com/office/officeart/2005/8/layout/default"/>
    <dgm:cxn modelId="{94A1654E-4FAC-4489-AAD5-6BE91C327C40}" type="presParOf" srcId="{658B7822-E2F0-49E9-9B78-BE3AEF3D33A6}" destId="{706E19EE-03F1-4EBB-91BD-401710868317}" srcOrd="7" destOrd="0" presId="urn:microsoft.com/office/officeart/2005/8/layout/default"/>
    <dgm:cxn modelId="{F7BCE9D5-9FE6-4AD9-9AE7-31942E2761E1}" type="presParOf" srcId="{658B7822-E2F0-49E9-9B78-BE3AEF3D33A6}" destId="{9336D2C8-6A5D-44D5-A0AE-45BAD6D8DCF2}" srcOrd="8" destOrd="0" presId="urn:microsoft.com/office/officeart/2005/8/layout/default"/>
    <dgm:cxn modelId="{104B1085-D812-4354-A54D-F2F83EC6A856}" type="presParOf" srcId="{658B7822-E2F0-49E9-9B78-BE3AEF3D33A6}" destId="{A9E871A6-B7AC-4292-A617-5152962544A0}" srcOrd="9" destOrd="0" presId="urn:microsoft.com/office/officeart/2005/8/layout/default"/>
    <dgm:cxn modelId="{D43178F8-378F-4BAE-89B2-73761972ABB6}" type="presParOf" srcId="{658B7822-E2F0-49E9-9B78-BE3AEF3D33A6}" destId="{7B4BA50C-C5E6-478E-96BA-380205D4138D}" srcOrd="10" destOrd="0" presId="urn:microsoft.com/office/officeart/2005/8/layout/default"/>
    <dgm:cxn modelId="{C2AFA1E0-7225-4348-BE37-87EC4C1F0329}" type="presParOf" srcId="{658B7822-E2F0-49E9-9B78-BE3AEF3D33A6}" destId="{6D2DB544-386A-476E-B545-58D237BACF1E}" srcOrd="11" destOrd="0" presId="urn:microsoft.com/office/officeart/2005/8/layout/default"/>
    <dgm:cxn modelId="{0C16FBE3-4164-4C07-8413-E95AE11732D0}" type="presParOf" srcId="{658B7822-E2F0-49E9-9B78-BE3AEF3D33A6}" destId="{8F2A6831-E14F-49BF-A149-9704D1510DF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9E554-852A-4E21-B9C1-2B3DFEFFD86D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7A7B7-B233-4179-8282-C6325E6783D8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Distributes traffic across Web Server A &amp; B</a:t>
          </a:r>
        </a:p>
      </dsp:txBody>
      <dsp:txXfrm>
        <a:off x="0" y="2703"/>
        <a:ext cx="6900512" cy="921789"/>
      </dsp:txXfrm>
    </dsp:sp>
    <dsp:sp modelId="{64EFFAF0-DC58-4AC0-AB47-205781B6F436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80779-842F-4FFA-AC0A-0DD4FE36BE0D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Works across two Availability Zones</a:t>
          </a:r>
        </a:p>
      </dsp:txBody>
      <dsp:txXfrm>
        <a:off x="0" y="924492"/>
        <a:ext cx="6900512" cy="921789"/>
      </dsp:txXfrm>
    </dsp:sp>
    <dsp:sp modelId="{AE568541-8FB8-4556-AA16-5620E96625D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D304A-7C02-429E-81A2-2C5EA9896512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Performs health checks</a:t>
          </a:r>
        </a:p>
      </dsp:txBody>
      <dsp:txXfrm>
        <a:off x="0" y="1846281"/>
        <a:ext cx="6900512" cy="921789"/>
      </dsp:txXfrm>
    </dsp:sp>
    <dsp:sp modelId="{34BC5B92-B2B7-46EF-8E7B-B3E845BBDF91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E394B-772C-443E-9A57-93EEDD18D3FA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Sends traffic only to healthy servers</a:t>
          </a:r>
        </a:p>
      </dsp:txBody>
      <dsp:txXfrm>
        <a:off x="0" y="2768070"/>
        <a:ext cx="6900512" cy="921789"/>
      </dsp:txXfrm>
    </dsp:sp>
    <dsp:sp modelId="{2DA03EFA-0264-49A1-B284-A9E2560EA975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D9507-A379-4562-A462-B772E5A0B474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Supports HTTP (80) and HTTPS (443)</a:t>
          </a:r>
        </a:p>
      </dsp:txBody>
      <dsp:txXfrm>
        <a:off x="0" y="3689859"/>
        <a:ext cx="6900512" cy="921789"/>
      </dsp:txXfrm>
    </dsp:sp>
    <dsp:sp modelId="{E5FE4903-D4E6-4131-839A-5AFE24908B91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641DB-E0DD-4DC5-83A5-BD20E4B7EEC8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Improves reliability and uptime</a:t>
          </a:r>
        </a:p>
      </dsp:txBody>
      <dsp:txXfrm>
        <a:off x="0" y="4611648"/>
        <a:ext cx="6900512" cy="921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34F66-232C-44B8-81AE-94A5AE747310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After enabling GuardDuty, we checked the Summary and Findings dashboards.</a:t>
          </a:r>
        </a:p>
      </dsp:txBody>
      <dsp:txXfrm>
        <a:off x="3080" y="587032"/>
        <a:ext cx="2444055" cy="1466433"/>
      </dsp:txXfrm>
    </dsp:sp>
    <dsp:sp modelId="{008F4950-7534-41F6-A4C8-E039BE9072DD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Our GuardDuty results showed </a:t>
          </a:r>
          <a:r>
            <a:rPr lang="en-US" sz="1300" b="1" kern="1200"/>
            <a:t>0 findings</a:t>
          </a:r>
          <a:r>
            <a:rPr lang="en-US" sz="1300" kern="1200"/>
            <a:t>, which means:</a:t>
          </a:r>
        </a:p>
      </dsp:txBody>
      <dsp:txXfrm>
        <a:off x="2691541" y="587032"/>
        <a:ext cx="2444055" cy="1466433"/>
      </dsp:txXfrm>
    </dsp:sp>
    <dsp:sp modelId="{A4C177DD-4C20-4504-AC1B-EFF83C9259C6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 brute-force attempts</a:t>
          </a:r>
        </a:p>
      </dsp:txBody>
      <dsp:txXfrm>
        <a:off x="5380002" y="587032"/>
        <a:ext cx="2444055" cy="1466433"/>
      </dsp:txXfrm>
    </dsp:sp>
    <dsp:sp modelId="{78AF9CB0-D361-459C-A3BA-21C0134DC169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 suspicious IP addresses</a:t>
          </a:r>
        </a:p>
      </dsp:txBody>
      <dsp:txXfrm>
        <a:off x="8068463" y="587032"/>
        <a:ext cx="2444055" cy="1466433"/>
      </dsp:txXfrm>
    </dsp:sp>
    <dsp:sp modelId="{9336D2C8-6A5D-44D5-A0AE-45BAD6D8DCF2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 unusual API behavior</a:t>
          </a:r>
        </a:p>
      </dsp:txBody>
      <dsp:txXfrm>
        <a:off x="1347311" y="2297871"/>
        <a:ext cx="2444055" cy="1466433"/>
      </dsp:txXfrm>
    </dsp:sp>
    <dsp:sp modelId="{7B4BA50C-C5E6-478E-96BA-380205D4138D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 compromised EC2 instances</a:t>
          </a:r>
        </a:p>
      </dsp:txBody>
      <dsp:txXfrm>
        <a:off x="4035772" y="2297871"/>
        <a:ext cx="2444055" cy="1466433"/>
      </dsp:txXfrm>
    </dsp:sp>
    <dsp:sp modelId="{8F2A6831-E14F-49BF-A149-9704D1510DF4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Even though there were no alerts, enabling GuardDuty is still very important.</a:t>
          </a:r>
          <a:br>
            <a:rPr lang="en-US" sz="1300" kern="1200"/>
          </a:br>
          <a:r>
            <a:rPr lang="en-US" sz="1300" kern="1200"/>
            <a:t> It ensures that if anything dangerous does happen in the future, we will get notified immediately.</a:t>
          </a:r>
        </a:p>
      </dsp:txBody>
      <dsp:txXfrm>
        <a:off x="672423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BF01A-F47E-440E-8DF5-5E7CBAF3B0F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69BBB-95AE-4660-A60A-BE94C604B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98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69BBB-95AE-4660-A60A-BE94C604BB8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626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806C-3718-6EC3-94E6-0D3431B7E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C5AAE-D7CF-4080-BD84-40B65C25B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4D52C-91B6-1759-F15D-4671DBA5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4DC81-E116-3B28-0CCE-A5DD1E56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6A77D-9FF2-7908-7E02-75F219C5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67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2624-AC6B-8156-80BD-6F725322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6C34-4581-8DEC-D30B-CE1747D76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56E14-08A8-A891-B641-F8C72A21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B7A3C-F8B5-8CFD-9233-F19D0F24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2EB44-6109-EDF7-AAE6-BB646F69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77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6FFF-F36B-AAAF-E604-49A9CFAA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A48A4-1F4E-E6D4-D95A-020858FBE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43E2-C1FC-894E-02BD-8E6BE5DAE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871CC-3B2F-6C9C-652A-5132E1CE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9797-3139-C312-3741-378944B3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67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5B20-7048-5A9E-55C3-39948D90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08923-CFBA-583C-4ADC-3D64B1C53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EF6BE-5D57-EE0C-091B-C7076C18A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93987-CECC-7186-29C8-70643029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B881C-6529-A94F-AF92-F1123BC6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D3FE9-1E26-EAA6-E5BB-507BAA6F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9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5802-5456-4155-CF91-5D0A8A58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40C-4BEB-60C3-7BC0-345B69AF5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5E79A-B92B-7025-F843-C98AFEE2F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C3805-66C9-28CD-9AA7-2BA90D462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79B9D-0881-079A-1AC9-A3C3D5713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17CD7-B22D-E955-1045-880B7C9B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85033-813D-5398-6D6C-0D185EAA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2D899-72C2-11DC-FA1E-0EEAF4E1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60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D2DD-F14D-2BDC-C9F2-4FDFBB34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4F4F2-00D6-83E7-D1D7-75B494F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D2B3F-A5F7-2525-4815-31D52FB5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BF9B2-1FCF-17DA-EBE6-7C2164F9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32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9BB28-D1A7-A7E5-0299-2A2AF579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B7022-521C-612C-2334-5B8B2704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17D92-7E68-A8CC-0A94-E5794A4E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35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F16E-0BBD-95CA-736F-B2AC4D22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3E293-AB86-901C-56FE-93C4BC69C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7B5AC-D5A0-6491-F5B0-9769D76B8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A95BC-78ED-5949-E7B2-94B69016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31757-EB6E-8BD9-BDAD-C8CE4B31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83CB2-31F1-5E4B-112F-A32B07A6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62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EFC3-061B-AD1F-67CC-5E2E84F69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9DF59-D5DD-BD7D-2447-3EA8AFB83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39F11-1C47-10B8-BD43-7C2F90546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71106-9E3E-6B44-CA6A-CC9BFEB8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DEA56-7CA0-DFE7-42E8-1D1641DB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0D647-A3B6-820F-C75C-ADB1BD9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0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65F4-D3DB-3DA8-840B-F8CE76AF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58B98-EE95-239F-8698-8BCC5AA15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7F63B-5A1F-187C-1586-878D319A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BBADD-311E-42F6-1A72-D2D9BE8A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F49B0-7397-C3A2-854D-819CC422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18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DA415-8486-F816-7906-DF150DAE3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D5F59-7CDA-377B-8554-0166B29A6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E7355-A1F6-8073-9A1B-9E99C0DF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7B7AC-93FF-3FC5-1EF5-79439A9B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D1E67-657E-DE3B-0E3A-B3A66E64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0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A768D-C9D7-ADC8-774F-44D4E24A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151AE-7296-08E3-54A1-0F69B0C3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990A-5759-81D3-812D-AE5511E57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2C4D7-3BBC-4E46-9EA5-B09E8B16065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8B77E-F7C3-1D21-A0DC-78BA77869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2741B-DDB6-E6C4-303B-F03325417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BF142-A6C0-4E7A-A832-B0EA9E566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2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ucid.app/lucidchart/0e645210-4836-4b9e-8aca-bc3da26ca9f1/edit?viewport_loc=-3351%2C-1835%2C6056%2C2722%2C0_0&amp;invitationId=inv_ba5ff272-33b8-416f-976f-d1869b75e68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2385D-175D-0F47-7E7E-99B0773AD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CloudNova: AWS Architecture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336559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28E9D-C3DD-37AA-37E4-A301BC166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IN" sz="4000">
                <a:solidFill>
                  <a:schemeClr val="bg1"/>
                </a:solidFill>
              </a:rPr>
              <a:t>Architecture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B79CD-C1C3-2DD8-4A5C-440D56D48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The diagram illustrates a multi-tier architecture deployed across two Availability Zones (AZs) to ensure redundancy, fault tolerance, and load balancing. It integrates core AWS components like EC2, RDS, S3, CloudFront, and Route 53 for a complete cloud deployment</a:t>
            </a:r>
          </a:p>
          <a:p>
            <a:pPr marL="0" indent="0">
              <a:buNone/>
            </a:pPr>
            <a:r>
              <a:rPr lang="en-US" sz="2400"/>
              <a:t>Link for Lucid Diagram: </a:t>
            </a:r>
          </a:p>
          <a:p>
            <a:pPr marL="0" indent="0">
              <a:buNone/>
            </a:pPr>
            <a:r>
              <a:rPr lang="en-IN" sz="2400">
                <a:hlinkClick r:id="rId2"/>
              </a:rPr>
              <a:t>https://lucid.app/lucidchart/0e645210-4836-4b9e-8aca-bc3da26ca9f1/edit?viewport_loc=-3351%2C-1835%2C6056%2C2722%2C0_0&amp;invitationId=inv_ba5ff272-33b8-416f-976f-d1869b75e683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12909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A89E4-A7DF-BA46-723F-13CD5A07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4200"/>
              <a:t>VPC and Subnet Design 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1C42-3247-0778-DCEE-661F6B8AE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/>
              <a:t>Two CIDR blocks:</a:t>
            </a:r>
            <a:endParaRPr lang="en-US" sz="2200"/>
          </a:p>
          <a:p>
            <a:pPr marL="0" indent="0">
              <a:buNone/>
            </a:pPr>
            <a:r>
              <a:rPr lang="en-US" sz="2200"/>
              <a:t>10.0.0.0/18 — Main network (public + private subnets) </a:t>
            </a:r>
          </a:p>
          <a:p>
            <a:pPr marL="0" indent="0">
              <a:buNone/>
            </a:pPr>
            <a:r>
              <a:rPr lang="en-US" sz="2200"/>
              <a:t>10.1.0.0/20 — Dedicated for the database layer</a:t>
            </a:r>
          </a:p>
          <a:p>
            <a:pPr marL="0" indent="0">
              <a:buNone/>
            </a:pPr>
            <a:r>
              <a:rPr lang="en-IN" sz="2200"/>
              <a:t>Each zone contains public, private, and database subnets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7B3A4C-1B1B-B2E4-9291-83AF48576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42441"/>
              </p:ext>
            </p:extLst>
          </p:nvPr>
        </p:nvGraphicFramePr>
        <p:xfrm>
          <a:off x="4654296" y="879173"/>
          <a:ext cx="6903722" cy="5099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2879">
                  <a:extLst>
                    <a:ext uri="{9D8B030D-6E8A-4147-A177-3AD203B41FA5}">
                      <a16:colId xmlns:a16="http://schemas.microsoft.com/office/drawing/2014/main" val="1712406980"/>
                    </a:ext>
                  </a:extLst>
                </a:gridCol>
                <a:gridCol w="1367039">
                  <a:extLst>
                    <a:ext uri="{9D8B030D-6E8A-4147-A177-3AD203B41FA5}">
                      <a16:colId xmlns:a16="http://schemas.microsoft.com/office/drawing/2014/main" val="1515964676"/>
                    </a:ext>
                  </a:extLst>
                </a:gridCol>
                <a:gridCol w="1529488">
                  <a:extLst>
                    <a:ext uri="{9D8B030D-6E8A-4147-A177-3AD203B41FA5}">
                      <a16:colId xmlns:a16="http://schemas.microsoft.com/office/drawing/2014/main" val="359924910"/>
                    </a:ext>
                  </a:extLst>
                </a:gridCol>
                <a:gridCol w="2124316">
                  <a:extLst>
                    <a:ext uri="{9D8B030D-6E8A-4147-A177-3AD203B41FA5}">
                      <a16:colId xmlns:a16="http://schemas.microsoft.com/office/drawing/2014/main" val="587952319"/>
                    </a:ext>
                  </a:extLst>
                </a:gridCol>
              </a:tblGrid>
              <a:tr h="602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Subnet Name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Availability Zone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CIDR Block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Purpose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1999098542"/>
                  </a:ext>
                </a:extLst>
              </a:tr>
              <a:tr h="602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Public-Subnet-A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us-east-1a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10.0.0.0/20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Bastion Host, NAT Gateway, and ALB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1149122237"/>
                  </a:ext>
                </a:extLst>
              </a:tr>
              <a:tr h="602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Private-Subnet-A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us-east-1a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10.0.16.0/20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Hosts EC2 Web Server (App Tier)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554759298"/>
                  </a:ext>
                </a:extLst>
              </a:tr>
              <a:tr h="602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DB-Subnet-A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us-east-1a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10.1.0.0/24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Primary Database RDS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3052435908"/>
                  </a:ext>
                </a:extLst>
              </a:tr>
              <a:tr h="11888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Public-Subnet-B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us-east-1b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10.0.32.0/20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Redundant Public Tier (for High Availaibility / ALB Failover)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1216825193"/>
                  </a:ext>
                </a:extLst>
              </a:tr>
              <a:tr h="6029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Private-Subnet-B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us-east-1b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10.0.48.0/20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Hosts Second Web Server (App Tier)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895326154"/>
                  </a:ext>
                </a:extLst>
              </a:tr>
              <a:tr h="8959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DB-Subnet-B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us-east-1b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10.1.1.0/24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Database Standby RDS (Reader / Replica)</a:t>
                      </a:r>
                      <a:endParaRPr lang="en-IN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387" marR="96387" marT="0" marB="0"/>
                </a:tc>
                <a:extLst>
                  <a:ext uri="{0D108BD9-81ED-4DB2-BD59-A6C34878D82A}">
                    <a16:rowId xmlns:a16="http://schemas.microsoft.com/office/drawing/2014/main" val="3135054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E6E92-EC07-E7FD-5E9A-F090BB35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4600"/>
              <a:t>Route Table Configuration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BEAA1-B56A-D181-5101-1906C8E2D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 b="1"/>
              <a:t>four route tables</a:t>
            </a:r>
            <a:r>
              <a:rPr lang="en-IN" sz="2200"/>
              <a:t> were created to manage network traffic flow and ensure isolation between tiers</a:t>
            </a:r>
          </a:p>
          <a:p>
            <a:pPr marL="0" indent="0">
              <a:buNone/>
            </a:pPr>
            <a:endParaRPr lang="en-IN" sz="2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A22106-540E-0765-5B40-FEF06D6ED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714992"/>
              </p:ext>
            </p:extLst>
          </p:nvPr>
        </p:nvGraphicFramePr>
        <p:xfrm>
          <a:off x="4300695" y="730960"/>
          <a:ext cx="7475973" cy="54789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3993">
                  <a:extLst>
                    <a:ext uri="{9D8B030D-6E8A-4147-A177-3AD203B41FA5}">
                      <a16:colId xmlns:a16="http://schemas.microsoft.com/office/drawing/2014/main" val="3261656918"/>
                    </a:ext>
                  </a:extLst>
                </a:gridCol>
                <a:gridCol w="1244333">
                  <a:extLst>
                    <a:ext uri="{9D8B030D-6E8A-4147-A177-3AD203B41FA5}">
                      <a16:colId xmlns:a16="http://schemas.microsoft.com/office/drawing/2014/main" val="1167700779"/>
                    </a:ext>
                  </a:extLst>
                </a:gridCol>
                <a:gridCol w="3002089">
                  <a:extLst>
                    <a:ext uri="{9D8B030D-6E8A-4147-A177-3AD203B41FA5}">
                      <a16:colId xmlns:a16="http://schemas.microsoft.com/office/drawing/2014/main" val="3964152631"/>
                    </a:ext>
                  </a:extLst>
                </a:gridCol>
                <a:gridCol w="2305558">
                  <a:extLst>
                    <a:ext uri="{9D8B030D-6E8A-4147-A177-3AD203B41FA5}">
                      <a16:colId xmlns:a16="http://schemas.microsoft.com/office/drawing/2014/main" val="1901621176"/>
                    </a:ext>
                  </a:extLst>
                </a:gridCol>
              </a:tblGrid>
              <a:tr h="5313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Route Table Name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Associated Subnets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Purpose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Routes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628831476"/>
                  </a:ext>
                </a:extLst>
              </a:tr>
              <a:tr h="10269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CN-Public-RT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Public-Subnet-A, Public-Subnet-B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Enables internet access for public-tier resources like the Bastion Host, NAT Gateway, and ALB.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>
                          <a:effectLst/>
                        </a:rPr>
                        <a:t>10.0.0.0/18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10.1.0.0/20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0.0.0.0/0 → igw-0da37cefa1dc1f791 (Internet Gateway)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3939168056"/>
                  </a:ext>
                </a:extLst>
              </a:tr>
              <a:tr h="18019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CN-Private-RT-A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Private-Subnet-A (us-east-1a)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Allows private-tier instances to initiate outbound </a:t>
                      </a:r>
                      <a:r>
                        <a:rPr lang="en-IN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internet</a:t>
                      </a:r>
                      <a:r>
                        <a:rPr lang="en-IN" sz="1400">
                          <a:effectLst/>
                        </a:rPr>
                        <a:t> access via NAT Gateway in AZ-1a.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>
                          <a:effectLst/>
                        </a:rPr>
                        <a:t>10.0.0.0/18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10.1.0.0/20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0.0.0.0/0 → nat-0a0e26f4cc4f00b0e (NAT Gateway-A)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pl-63a5400a → vpce-0297ce12046a85f17 (S3 Gateway Endpoint)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574800674"/>
                  </a:ext>
                </a:extLst>
              </a:tr>
              <a:tr h="1395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CN-Private-RT-B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Private-Subnet-B (us-east-1b)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Allows private-tier instances in AZ-1b to reach the internet through NAT Gateway-B.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>
                          <a:effectLst/>
                        </a:rPr>
                        <a:t>10.0.0.0/18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10.1.0.0/20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0.0.0.0/0 → nat-046c0deee7c5562cb (NAT Gateway-B)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pl-63a5400a → vpce-0297ce12046a85f17 (S3 Gateway Endpoint)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2059853110"/>
                  </a:ext>
                </a:extLst>
              </a:tr>
              <a:tr h="5313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CN-DB-Route-Table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DB-Subnet-A, DB-Subnet-B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Dedicated to the database layer, allowing only local communication inside the VPC.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>
                          <a:effectLst/>
                        </a:rPr>
                        <a:t>10.0.0.0/18 → local</a:t>
                      </a:r>
                      <a:br>
                        <a:rPr lang="en-CA" sz="1000">
                          <a:effectLst/>
                        </a:rPr>
                      </a:br>
                      <a:r>
                        <a:rPr lang="en-CA" sz="1000">
                          <a:effectLst/>
                        </a:rPr>
                        <a:t>10.1.0.0/20 → local</a:t>
                      </a:r>
                      <a:endParaRPr lang="en-IN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49030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77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8EDEF-71ED-E42C-F784-635A389B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1EC0CF-C607-9AE0-F6AD-FB466EAA4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D7C59-357A-D0A2-4EC9-2664C16C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4600">
                <a:ea typeface="+mj-lt"/>
                <a:cs typeface="+mj-lt"/>
              </a:rPr>
              <a:t>Security Groups (SGs)</a:t>
            </a:r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A3171E53-5C4C-9CBE-EA71-CF168ACD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CBD0-C86F-F0A2-C79F-909E5AEA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>
                <a:ea typeface="+mn-lt"/>
                <a:cs typeface="+mn-lt"/>
              </a:rPr>
              <a:t>Security Groups are stateful firewalls that enforce least-privilege access.</a:t>
            </a:r>
            <a:endParaRPr lang="en-US"/>
          </a:p>
          <a:p>
            <a:pPr marL="0" indent="0">
              <a:buNone/>
            </a:pPr>
            <a:endParaRPr lang="en-IN" sz="2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004F41-746A-3392-2599-FAB89C1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716021"/>
              </p:ext>
            </p:extLst>
          </p:nvPr>
        </p:nvGraphicFramePr>
        <p:xfrm>
          <a:off x="4339166" y="730250"/>
          <a:ext cx="7433922" cy="5109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1944">
                  <a:extLst>
                    <a:ext uri="{9D8B030D-6E8A-4147-A177-3AD203B41FA5}">
                      <a16:colId xmlns:a16="http://schemas.microsoft.com/office/drawing/2014/main" val="3261656918"/>
                    </a:ext>
                  </a:extLst>
                </a:gridCol>
                <a:gridCol w="1244332">
                  <a:extLst>
                    <a:ext uri="{9D8B030D-6E8A-4147-A177-3AD203B41FA5}">
                      <a16:colId xmlns:a16="http://schemas.microsoft.com/office/drawing/2014/main" val="1167700779"/>
                    </a:ext>
                  </a:extLst>
                </a:gridCol>
                <a:gridCol w="3002088">
                  <a:extLst>
                    <a:ext uri="{9D8B030D-6E8A-4147-A177-3AD203B41FA5}">
                      <a16:colId xmlns:a16="http://schemas.microsoft.com/office/drawing/2014/main" val="3964152631"/>
                    </a:ext>
                  </a:extLst>
                </a:gridCol>
                <a:gridCol w="2305558">
                  <a:extLst>
                    <a:ext uri="{9D8B030D-6E8A-4147-A177-3AD203B41FA5}">
                      <a16:colId xmlns:a16="http://schemas.microsoft.com/office/drawing/2014/main" val="1901621176"/>
                    </a:ext>
                  </a:extLst>
                </a:gridCol>
              </a:tblGrid>
              <a:tr h="699964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>
                          <a:effectLst/>
                        </a:rPr>
                        <a:t>Security Group</a:t>
                      </a:r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Purpose / Attached To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Inbound Rules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Outbound Rules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628831476"/>
                  </a:ext>
                </a:extLst>
              </a:tr>
              <a:tr h="1347431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SG-ALB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Application Load Balancer (Public Subnets)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• HTTP (80) – Allow from 0.0.0.0/0</a:t>
                      </a:r>
                      <a:endParaRPr lang="en-US"/>
                    </a:p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• HTTPS (443) – Allow from 0.0.0.0/0</a:t>
                      </a:r>
                      <a:endParaRPr lang="en-IN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HTTP (80) – Allow to anywhere</a:t>
                      </a:r>
                      <a:endParaRPr lang="en-US"/>
                    </a:p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HTTPS (443) – Allow to anywhere</a:t>
                      </a:r>
                      <a:endParaRPr lang="en-CA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3939168056"/>
                  </a:ext>
                </a:extLst>
              </a:tr>
              <a:tr h="1014947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SG-Bastion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Bastion Host (Public Subnet)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• SSH (22) – Allow from specific admin IPs (e.g., 0.0.0.0/0 for lab testing)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SSH (22) – Allow to private web servers (SG-Web) for administration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574800674"/>
                  </a:ext>
                </a:extLst>
              </a:tr>
              <a:tr h="1347431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SG-Web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EC2 Web Servers (Private Subnets)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HTTP (80) – Allow from SG-ALB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• HTTPS (443) – Allow from SG-ALB</a:t>
                      </a:r>
                      <a:endParaRPr lang="en-IN"/>
                    </a:p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• SSH (22) – Allow from SG-Bastion</a:t>
                      </a:r>
                      <a:endParaRPr lang="en-IN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HTTP (80) – Allow to ALB for responses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HTTPS (443) – Allow to ALB</a:t>
                      </a:r>
                      <a:endParaRPr lang="en-CA"/>
                    </a:p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MySQL/Aurora (3306) – Allow to SG-RDS for database connections</a:t>
                      </a:r>
                      <a:endParaRPr lang="en-CA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2059853110"/>
                  </a:ext>
                </a:extLst>
              </a:tr>
              <a:tr h="699964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SG-RDS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Aurora Database Cluster (DB Subnets)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b="0" i="0" u="none" strike="noStrike" noProof="0">
                          <a:effectLst/>
                          <a:latin typeface="Aptos"/>
                        </a:rPr>
                        <a:t>• MySQL/Aurora (3306) – Allow from SG-Web only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All traffic – Allowed internally (for RDS system updates within VPC)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49030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67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CB3CC-480D-63D9-4FE3-E6466380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ketch line">
            <a:extLst>
              <a:ext uri="{FF2B5EF4-FFF2-40B4-BE49-F238E27FC236}">
                <a16:creationId xmlns:a16="http://schemas.microsoft.com/office/drawing/2014/main" id="{89F48DA0-0E3D-3852-196B-41D1E98E3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B84BD-C793-4DD2-BEEF-92EC55E5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>
                <a:ea typeface="+mn-lt"/>
                <a:cs typeface="+mn-lt"/>
              </a:rPr>
              <a:t>A Network ACL (Access Control List) is a stateless, subnet-level firewall in AWS that controls incoming and outgoing traffic for an entire subnet.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6FFC1-D630-E503-99C1-8E98F262A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32839"/>
              </p:ext>
            </p:extLst>
          </p:nvPr>
        </p:nvGraphicFramePr>
        <p:xfrm>
          <a:off x="3982528" y="776377"/>
          <a:ext cx="7836318" cy="54876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3288">
                  <a:extLst>
                    <a:ext uri="{9D8B030D-6E8A-4147-A177-3AD203B41FA5}">
                      <a16:colId xmlns:a16="http://schemas.microsoft.com/office/drawing/2014/main" val="3261656918"/>
                    </a:ext>
                  </a:extLst>
                </a:gridCol>
                <a:gridCol w="1182434">
                  <a:extLst>
                    <a:ext uri="{9D8B030D-6E8A-4147-A177-3AD203B41FA5}">
                      <a16:colId xmlns:a16="http://schemas.microsoft.com/office/drawing/2014/main" val="1167700779"/>
                    </a:ext>
                  </a:extLst>
                </a:gridCol>
                <a:gridCol w="1650522">
                  <a:extLst>
                    <a:ext uri="{9D8B030D-6E8A-4147-A177-3AD203B41FA5}">
                      <a16:colId xmlns:a16="http://schemas.microsoft.com/office/drawing/2014/main" val="3964152631"/>
                    </a:ext>
                  </a:extLst>
                </a:gridCol>
                <a:gridCol w="1855037">
                  <a:extLst>
                    <a:ext uri="{9D8B030D-6E8A-4147-A177-3AD203B41FA5}">
                      <a16:colId xmlns:a16="http://schemas.microsoft.com/office/drawing/2014/main" val="1685506047"/>
                    </a:ext>
                  </a:extLst>
                </a:gridCol>
                <a:gridCol w="1855037">
                  <a:extLst>
                    <a:ext uri="{9D8B030D-6E8A-4147-A177-3AD203B41FA5}">
                      <a16:colId xmlns:a16="http://schemas.microsoft.com/office/drawing/2014/main" val="1901621176"/>
                    </a:ext>
                  </a:extLst>
                </a:gridCol>
              </a:tblGrid>
              <a:tr h="826905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  <a:latin typeface="Aptos"/>
                        </a:rPr>
                        <a:t>Network ACL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Associated Subnets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Inbound Rules (Allow)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Outbound Rules (Allow)</a:t>
                      </a:r>
                      <a:endParaRPr lang="en-US"/>
                    </a:p>
                  </a:txBody>
                  <a:tcPr marL="47985" marR="47985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Purpose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628831476"/>
                  </a:ext>
                </a:extLst>
              </a:tr>
              <a:tr h="1691394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CN-Public-Subnet-NACL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Public-Subnet-A, Public-Subnet-B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HTTP (80), HTTPS (443), SSH (22) – from 0.0.0.0/0</a:t>
                      </a:r>
                      <a:endParaRPr lang="en-US" sz="10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• Ephemeral ports (1024–65535) – for return traffic</a:t>
                      </a:r>
                      <a:endParaRPr lang="en-IN" sz="1000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HTTP (80), HTTPS (443), SSH (22) – to 0.0.0.0/0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  <a:latin typeface="Aptos"/>
                        </a:rPr>
                        <a:t>• Ephemeral ports (1024–65535) – for responses</a:t>
                      </a:r>
                      <a:endParaRPr lang="en-CA"/>
                    </a:p>
                  </a:txBody>
                  <a:tcPr marL="47985" marR="47985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</a:rPr>
                        <a:t>Allows public internet access for ALB and Bastion hosts while maintaining control on allowed protocols.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3939168056"/>
                  </a:ext>
                </a:extLst>
              </a:tr>
              <a:tr h="1277945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CN-Private-Web-NACL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Private-Subnet-A, Private-Subnet-B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HTTP (80), HTTPS (443) – from ALB subnets</a:t>
                      </a:r>
                      <a:endParaRPr lang="en-US" sz="10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• MySQL (3306) – to DB subnets</a:t>
                      </a:r>
                      <a:endParaRPr lang="en-IN" sz="1000"/>
                    </a:p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• Ephemeral ports (1024–65535) – bidirectional</a:t>
                      </a:r>
                      <a:endParaRPr lang="en-IN" sz="1000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</a:rPr>
                        <a:t>• HTTP/HTTPS (80/443) – responses to ALB • MySQL (3306) – outbound to RDS • Ephemeral ports (1024–65535) – bidirectional</a:t>
                      </a:r>
                      <a:endParaRPr lang="en-US"/>
                    </a:p>
                  </a:txBody>
                  <a:tcPr marL="47985" marR="47985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</a:rPr>
                        <a:t>Protects private web servers; only allows inbound web traffic from ALB and outbound DB traffic.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574800674"/>
                  </a:ext>
                </a:extLst>
              </a:tr>
              <a:tr h="1691394"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CN-Private-DB-NACL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DB-Subnet-A, DB-Subnet-B</a:t>
                      </a:r>
                      <a:endParaRPr lang="en-US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MySQL (3306) – from private subnets only</a:t>
                      </a:r>
                      <a:endParaRPr lang="en-US" sz="10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noProof="0">
                          <a:effectLst/>
                        </a:rPr>
                        <a:t>• Ephemeral ports (1024–65535) – for responses</a:t>
                      </a:r>
                      <a:endParaRPr lang="en-IN" sz="1000"/>
                    </a:p>
                  </a:txBody>
                  <a:tcPr marL="47986" marR="47986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</a:rPr>
                        <a:t>MySQL (3306) – outbound responses to private tier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</a:rPr>
                        <a:t>• Ephemeral ports (1024–65535) – for return traffic</a:t>
                      </a:r>
                      <a:endParaRPr lang="en-CA"/>
                    </a:p>
                  </a:txBody>
                  <a:tcPr marL="47985" marR="47985" marT="0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0" i="0" u="none" strike="noStrike" noProof="0">
                          <a:effectLst/>
                        </a:rPr>
                        <a:t>Restricts DB subnets for internal use only. Denies all external inbound/outbound internet traffic.</a:t>
                      </a:r>
                      <a:endParaRPr lang="en-US"/>
                    </a:p>
                  </a:txBody>
                  <a:tcPr marL="47986" marR="47986" marT="0" marB="0"/>
                </a:tc>
                <a:extLst>
                  <a:ext uri="{0D108BD9-81ED-4DB2-BD59-A6C34878D82A}">
                    <a16:rowId xmlns:a16="http://schemas.microsoft.com/office/drawing/2014/main" val="2059853110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0F5CDCC9-E83E-AEC1-E61E-9A68663D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81" y="1040861"/>
            <a:ext cx="3240657" cy="1339940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Network ACLs (NACLs)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1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6D0DF-0FCD-684B-2444-302778A4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8531296-AA7D-64E7-957E-9064DB5F2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C41CD-376D-E789-4405-70ED8F7E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IN" sz="4000">
                <a:solidFill>
                  <a:schemeClr val="bg1"/>
                </a:solidFill>
              </a:rPr>
              <a:t>Bastion Host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1CAFAA-8D47-98E0-4C79-4500D9BFB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ADDB2-B17E-4369-39C0-02CFC9300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A36B-8B97-FAF9-078B-51FE45DC4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Bastion Host is a critical component for secure admin access.</a:t>
            </a:r>
            <a:endParaRPr lang="en-US"/>
          </a:p>
          <a:p>
            <a:pPr>
              <a:buFont typeface="Arial"/>
              <a:buChar char="•"/>
            </a:pPr>
            <a:r>
              <a:rPr lang="en-US"/>
              <a:t>Two bastion hosts are applied in both zones. One is primary and the other is stand-by</a:t>
            </a:r>
          </a:p>
          <a:p>
            <a:pPr>
              <a:buFont typeface="Arial"/>
              <a:buChar char="•"/>
            </a:pPr>
            <a:r>
              <a:rPr lang="en-US"/>
              <a:t>Bastion needs a public IP so administrators can SSH into it</a:t>
            </a:r>
          </a:p>
          <a:p>
            <a:pPr>
              <a:buFont typeface="Arial"/>
              <a:buChar char="•"/>
            </a:pPr>
            <a:r>
              <a:rPr lang="en-US"/>
              <a:t>From there, it can SSH into private EC2 instances</a:t>
            </a:r>
          </a:p>
          <a:p>
            <a:pPr>
              <a:buFont typeface="Arial"/>
              <a:buChar char="•"/>
            </a:pPr>
            <a:r>
              <a:rPr lang="en-US"/>
              <a:t>Protects private servers by blocking direct SSH from the internet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023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518B1-F195-B93B-4CC5-CE3F459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Application Load Balancer (ALB)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883C6C-881D-20DD-BE25-CFC648D49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32137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09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F04E5-95CD-D088-DC7C-1C1A175A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EC2 Web Servers (Private Subnets)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718DA229-6FC3-79FF-EEB0-95D68D2EB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5A14E-393A-1898-3E59-FFACE7CEF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Two EC2 web servers (AZ-1a &amp; AZ-1b)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Placed in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private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subnets for security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Accessible only through: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Bastion Host (SSH)</a:t>
            </a:r>
            <a:endParaRPr lang="en-US" sz="14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Load Balancer (HTTP/HTTPS)</a:t>
            </a:r>
            <a:endParaRPr lang="en-US" sz="14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Hosts the web application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Isolated from the public internet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8399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8F36B-4C08-96B3-A4EA-EB1F6B3A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EBS Volumes + Auto-Mount Setup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C6D8D707-1270-FD0A-4AEC-F6571993A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75124-58FA-353A-0F86-C94B93B6C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Each server has a </a:t>
            </a:r>
            <a:r>
              <a:rPr lang="en-US" sz="1800" b="1">
                <a:solidFill>
                  <a:schemeClr val="tx2"/>
                </a:solidFill>
              </a:rPr>
              <a:t>20 GB EBS volume and 5 GB extra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Device appears as </a:t>
            </a:r>
            <a:r>
              <a:rPr lang="en-US" sz="1800">
                <a:solidFill>
                  <a:schemeClr val="tx2"/>
                </a:solidFill>
                <a:latin typeface="Consolas"/>
              </a:rPr>
              <a:t>/dev/</a:t>
            </a:r>
            <a:r>
              <a:rPr lang="en-US" sz="1800" err="1">
                <a:solidFill>
                  <a:schemeClr val="tx2"/>
                </a:solidFill>
                <a:latin typeface="Consolas"/>
              </a:rPr>
              <a:t>xvda</a:t>
            </a:r>
            <a:r>
              <a:rPr lang="en-US" sz="1800">
                <a:solidFill>
                  <a:schemeClr val="tx2"/>
                </a:solidFill>
              </a:rPr>
              <a:t> </a:t>
            </a:r>
          </a:p>
          <a:p>
            <a:r>
              <a:rPr lang="en-US" sz="1800">
                <a:solidFill>
                  <a:schemeClr val="tx2"/>
                </a:solidFill>
              </a:rPr>
              <a:t>Formatted using the </a:t>
            </a:r>
            <a:r>
              <a:rPr lang="en-US" sz="1800" b="1">
                <a:solidFill>
                  <a:schemeClr val="tx2"/>
                </a:solidFill>
              </a:rPr>
              <a:t>XFS filesystem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Mounted to </a:t>
            </a:r>
            <a:r>
              <a:rPr lang="en-US" sz="1800">
                <a:solidFill>
                  <a:schemeClr val="tx2"/>
                </a:solidFill>
                <a:latin typeface="Consolas"/>
              </a:rPr>
              <a:t>/data</a:t>
            </a:r>
          </a:p>
          <a:p>
            <a:r>
              <a:rPr lang="en-US" sz="1800">
                <a:solidFill>
                  <a:schemeClr val="tx2"/>
                </a:solidFill>
                <a:latin typeface="Consolas"/>
              </a:rPr>
              <a:t>/</a:t>
            </a:r>
            <a:r>
              <a:rPr lang="en-US" sz="1800" err="1">
                <a:solidFill>
                  <a:schemeClr val="tx2"/>
                </a:solidFill>
                <a:latin typeface="Consolas"/>
              </a:rPr>
              <a:t>etc</a:t>
            </a:r>
            <a:r>
              <a:rPr lang="en-US" sz="1800">
                <a:solidFill>
                  <a:schemeClr val="tx2"/>
                </a:solidFill>
                <a:latin typeface="Consolas"/>
              </a:rPr>
              <a:t>/</a:t>
            </a:r>
            <a:r>
              <a:rPr lang="en-US" sz="1800" err="1">
                <a:solidFill>
                  <a:schemeClr val="tx2"/>
                </a:solidFill>
                <a:latin typeface="Consolas"/>
              </a:rPr>
              <a:t>fstab</a:t>
            </a:r>
            <a:r>
              <a:rPr lang="en-US" sz="1800">
                <a:solidFill>
                  <a:schemeClr val="tx2"/>
                </a:solidFill>
              </a:rPr>
              <a:t> entry added for auto-mount after reboot</a:t>
            </a:r>
          </a:p>
          <a:p>
            <a:r>
              <a:rPr lang="en-US" sz="1800">
                <a:solidFill>
                  <a:schemeClr val="tx2"/>
                </a:solidFill>
              </a:rPr>
              <a:t>Ensures persistent, stable storage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550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94D98C-62FC-0211-A2AF-B11359A37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HTTPS Certificate (ACM)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18866-66A2-5073-952F-34C779C6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SSL/TLS certificate created in AWS Certificate Manager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Attached to ALB HTTPS listener (port 443)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Encrypts all user traffic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“Not Secure” warning due to internal certificate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Secure access tested using HTTPS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Follows AWS best security practices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96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54A08-C1FB-4095-14BC-9D9BA69C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Auto Scaling Group (ASG)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9E2D9-87B7-F890-6245-74C02EABF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Automatically adds/removes EC2 instances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Based on CPU or demand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Uses Launch Template (AMI + instance type)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Operates across two AZs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Improves performance, reliability, and cost efficiency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86FACCC1-0EC7-95DE-F807-88E1EDB05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49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FE71-EB6F-7E45-9900-EBA9F960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>
                <a:ea typeface="+mj-lt"/>
                <a:cs typeface="+mj-lt"/>
              </a:rPr>
              <a:t>CloudTrail is like a  security camera for your AWS account.</a:t>
            </a:r>
            <a:endParaRPr lang="en-US" sz="2800">
              <a:ea typeface="+mj-lt"/>
              <a:cs typeface="+mj-lt"/>
            </a:endParaRPr>
          </a:p>
          <a:p>
            <a:r>
              <a:rPr lang="en-US" sz="2800" b="1">
                <a:ea typeface="+mj-lt"/>
                <a:cs typeface="+mj-lt"/>
              </a:rPr>
              <a:t>CloudTrail captures:</a:t>
            </a:r>
            <a:endParaRPr lang="en-US" sz="2800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51C5-A751-1CDB-5A8D-8931FD2A5F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ea typeface="+mn-lt"/>
                <a:cs typeface="+mn-lt"/>
              </a:rPr>
              <a:t>Every login to AWS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Every resource creation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Every resource deletion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Permission changes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Security Group changes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Starting/stopping EC2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S3 bucket modifications</a:t>
            </a:r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IAM actions</a:t>
            </a:r>
            <a:endParaRPr lang="en-US" sz="1600">
              <a:ea typeface="+mn-lt"/>
              <a:cs typeface="+mn-lt"/>
            </a:endParaRPr>
          </a:p>
          <a:p>
            <a:endParaRPr lang="en-US" sz="160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FAC475-D544-AE6F-A701-2CC490D59C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93024" y="1592631"/>
            <a:ext cx="7097805" cy="434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9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A412-06CB-B2AE-D910-168E25BA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Cloud Trail S3 bucket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DB02F4-3EF8-5B0D-FACA-145DA54A7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8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717F-94A1-AA78-6552-B1892405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>
                <a:ea typeface="+mj-lt"/>
                <a:cs typeface="+mj-lt"/>
              </a:rPr>
              <a:t>What is Amazon CloudWatch?</a:t>
            </a:r>
            <a:endParaRPr lang="en-US" sz="2400">
              <a:ea typeface="+mj-lt"/>
              <a:cs typeface="+mj-lt"/>
            </a:endParaRPr>
          </a:p>
          <a:p>
            <a:r>
              <a:rPr lang="en-US" sz="2400" b="1">
                <a:ea typeface="+mj-lt"/>
                <a:cs typeface="+mj-lt"/>
              </a:rPr>
              <a:t>CloudWatch is a monitoring service.</a:t>
            </a:r>
            <a:endParaRPr lang="en-US" sz="2400">
              <a:ea typeface="+mj-lt"/>
              <a:cs typeface="+mj-lt"/>
            </a:endParaRPr>
          </a:p>
          <a:p>
            <a:r>
              <a:rPr lang="en-US" sz="2400" b="1">
                <a:ea typeface="+mj-lt"/>
                <a:cs typeface="+mj-lt"/>
              </a:rPr>
              <a:t>It watches:</a:t>
            </a:r>
            <a:endParaRPr lang="en-US" sz="2400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86653-9988-50A3-E8A4-6D9C02FD20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EC2 performance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CPU usage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RAM (if using agent)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Network traffic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Disk activity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Application logs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Metric-based alarms</a:t>
            </a:r>
            <a:endParaRPr lang="en-US" sz="2400"/>
          </a:p>
          <a:p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49A063-0848-872C-0E3E-9030F9E5EB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98722" y="1030409"/>
            <a:ext cx="6976995" cy="442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56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4438-78BC-CE86-0A5A-330CD51D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CloudWatch Alarms</a:t>
            </a:r>
            <a:endParaRPr lang="en-US" sz="1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r>
              <a:rPr lang="en-US" sz="1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CloudWatch Alarms make automatic alerts when a metric crosses a threshold.</a:t>
            </a:r>
            <a:endParaRPr lang="en-US" sz="1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sz="19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sz="1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C33F-1B94-FE80-6B65-16347DEF2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Types of alarms you used:</a:t>
            </a:r>
            <a:endParaRPr lang="en-US" sz="1800"/>
          </a:p>
          <a:p>
            <a:r>
              <a:rPr lang="en-US" sz="1800" b="1"/>
              <a:t>CPU Alarm → </a:t>
            </a:r>
            <a:r>
              <a:rPr lang="en-US" sz="1800" b="1" err="1"/>
              <a:t>CPUUtilization</a:t>
            </a:r>
            <a:r>
              <a:rPr lang="en-US" sz="1800" b="1"/>
              <a:t> ≥ 70%</a:t>
            </a:r>
            <a:endParaRPr lang="en-US" sz="1800"/>
          </a:p>
          <a:p>
            <a:r>
              <a:rPr lang="en-US" sz="1800" b="1"/>
              <a:t>Disk Alarm → </a:t>
            </a:r>
            <a:r>
              <a:rPr lang="en-US" sz="1800" b="1" err="1"/>
              <a:t>VolumeReadBytes</a:t>
            </a:r>
            <a:r>
              <a:rPr lang="en-US" sz="1800" b="1"/>
              <a:t> </a:t>
            </a:r>
          </a:p>
          <a:p>
            <a:r>
              <a:rPr lang="en-US" sz="1800" b="1"/>
              <a:t>Failed Login Alarm → Custom metric based on CloudTrail</a:t>
            </a:r>
            <a:endParaRPr lang="en-US" sz="180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C20EDC-C5E3-9986-61A0-3F0F8ABB1A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1589953"/>
            <a:ext cx="6440424" cy="36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5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0BF1F-2D6B-9431-2720-413A835A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Amazon SNS – simple notification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7E28-25EA-658F-BBE5-69C6F4233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endParaRPr lang="en-US" sz="1800" b="1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Email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DC150A-4EA1-029C-DB7B-EB7A6E18BF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046" y="2573966"/>
            <a:ext cx="3661831" cy="205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25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7C7DE-B951-246B-2FDE-5801CD76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165415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  <a:latin typeface="Aptos"/>
                <a:cs typeface="Segoe UI"/>
              </a:rPr>
              <a:t>GuardDuty Threat Detection</a:t>
            </a:r>
            <a:endParaRPr lang="en-US" sz="3600">
              <a:solidFill>
                <a:schemeClr val="tx2"/>
              </a:solidFill>
              <a:latin typeface="Aptos"/>
            </a:endParaRPr>
          </a:p>
          <a:p>
            <a:endParaRPr lang="en-IN" sz="3600">
              <a:solidFill>
                <a:schemeClr val="tx2"/>
              </a:solidFill>
            </a:endParaRPr>
          </a:p>
        </p:txBody>
      </p:sp>
      <p:pic>
        <p:nvPicPr>
          <p:cNvPr id="40" name="Graphic 39" descr="Database">
            <a:extLst>
              <a:ext uri="{FF2B5EF4-FFF2-40B4-BE49-F238E27FC236}">
                <a16:creationId xmlns:a16="http://schemas.microsoft.com/office/drawing/2014/main" id="{7F562C09-D740-8CBF-13AD-C574C912A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74385-7498-0342-90DB-165F3E8AC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2000" b="1">
                <a:solidFill>
                  <a:schemeClr val="tx2"/>
                </a:solidFill>
                <a:ea typeface="+mn-lt"/>
                <a:cs typeface="+mn-lt"/>
              </a:rPr>
              <a:t>AWS </a:t>
            </a:r>
            <a:r>
              <a:rPr lang="en-IN" sz="2000" b="1" err="1">
                <a:solidFill>
                  <a:schemeClr val="tx2"/>
                </a:solidFill>
                <a:ea typeface="+mn-lt"/>
                <a:cs typeface="+mn-lt"/>
              </a:rPr>
              <a:t>GuardDuty</a:t>
            </a:r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 is Amazon’s threat detection service.</a:t>
            </a:r>
            <a:br>
              <a:rPr lang="en-IN" sz="2000">
                <a:ea typeface="+mn-lt"/>
                <a:cs typeface="+mn-lt"/>
              </a:rPr>
            </a:br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 It continuously </a:t>
            </a:r>
            <a:r>
              <a:rPr lang="en-IN" sz="2000" err="1">
                <a:solidFill>
                  <a:schemeClr val="tx2"/>
                </a:solidFill>
                <a:ea typeface="+mn-lt"/>
                <a:cs typeface="+mn-lt"/>
              </a:rPr>
              <a:t>analyzes</a:t>
            </a:r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 CloudTrail logs, VPC Flow Logs, and DNS logs to detect:</a:t>
            </a:r>
            <a:endParaRPr lang="en-IN" sz="2000">
              <a:solidFill>
                <a:schemeClr val="tx2"/>
              </a:solidFill>
            </a:endParaRPr>
          </a:p>
          <a:p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Suspicious API calls</a:t>
            </a:r>
            <a:endParaRPr lang="en-IN" sz="2000">
              <a:solidFill>
                <a:schemeClr val="tx2"/>
              </a:solidFill>
            </a:endParaRPr>
          </a:p>
          <a:p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Unusual network activity</a:t>
            </a:r>
            <a:endParaRPr lang="en-IN" sz="2000">
              <a:solidFill>
                <a:schemeClr val="tx2"/>
              </a:solidFill>
            </a:endParaRPr>
          </a:p>
          <a:p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Unauthorized access</a:t>
            </a:r>
            <a:endParaRPr lang="en-IN" sz="2000">
              <a:solidFill>
                <a:schemeClr val="tx2"/>
              </a:solidFill>
            </a:endParaRPr>
          </a:p>
          <a:p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Potential malware </a:t>
            </a:r>
          </a:p>
          <a:p>
            <a:pPr marL="0" indent="0">
              <a:buNone/>
            </a:pPr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It basically works like a </a:t>
            </a:r>
            <a:r>
              <a:rPr lang="en-IN" sz="2000" b="1">
                <a:solidFill>
                  <a:schemeClr val="tx2"/>
                </a:solidFill>
                <a:ea typeface="+mn-lt"/>
                <a:cs typeface="+mn-lt"/>
              </a:rPr>
              <a:t>security monitoring system</a:t>
            </a:r>
            <a:r>
              <a:rPr lang="en-IN" sz="2000">
                <a:solidFill>
                  <a:schemeClr val="tx2"/>
                </a:solidFill>
                <a:ea typeface="+mn-lt"/>
                <a:cs typeface="+mn-lt"/>
              </a:rPr>
              <a:t> for the entire AWS account</a:t>
            </a:r>
            <a:endParaRPr lang="en-IN" sz="2000">
              <a:solidFill>
                <a:schemeClr val="tx2"/>
              </a:solidFill>
            </a:endParaRPr>
          </a:p>
          <a:p>
            <a:endParaRPr lang="en-IN" sz="1800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599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A8693-F763-93D4-71BA-DB47CF40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>
                <a:ea typeface="+mj-lt"/>
                <a:cs typeface="+mj-lt"/>
              </a:rPr>
              <a:t>Our GuardDuty Findings</a:t>
            </a:r>
            <a:endParaRPr lang="en-US" sz="520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B21CD39-1CC1-2B00-5EDA-B86094677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5210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88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DA0ABA-BA21-8B12-65FC-AFDB550CA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45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A22BC-B495-D529-4125-A7AC106E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AWS Trusted Advisor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8B2F-461A-E5D4-031C-294ACFEC8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Trusted Advisor is a tool that gives recommendations to improve: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Security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Performance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Service limits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Fault tolerance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checks our AWS resources and tells us where we can improve our configuration.</a:t>
            </a:r>
            <a:endParaRPr lang="en-US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37456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FFB3-97F3-7858-E6EA-409D62E2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"/>
              </a:rPr>
              <a:t>Our Trusted Advisor Findings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B2DA9-BBB3-87C2-F334-51CE92D80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endParaRPr lang="en-US" b="1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 our project, Trusted Advisor gave several recommendations: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Security warning:</a:t>
            </a:r>
            <a:r>
              <a:rPr lang="en-US">
                <a:ea typeface="+mn-lt"/>
                <a:cs typeface="+mn-lt"/>
              </a:rPr>
              <a:t> MFA not enabled for the root account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Security warning:</a:t>
            </a:r>
            <a:r>
              <a:rPr lang="en-US">
                <a:ea typeface="+mn-lt"/>
                <a:cs typeface="+mn-lt"/>
              </a:rPr>
              <a:t> Some security groups allowed open access (0.0.0.0/0)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Service limits:</a:t>
            </a:r>
            <a:r>
              <a:rPr lang="en-US">
                <a:ea typeface="+mn-lt"/>
                <a:cs typeface="+mn-lt"/>
              </a:rPr>
              <a:t> Elastic IP usage near the quota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Other checks:</a:t>
            </a:r>
            <a:r>
              <a:rPr lang="en-US">
                <a:ea typeface="+mn-lt"/>
                <a:cs typeface="+mn-lt"/>
              </a:rPr>
              <a:t> Most areas were green, meaning properly configured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These findings helped us identify where our environment can be improved for better security and reliability.</a:t>
            </a:r>
            <a:endParaRPr lang="en-US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2950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C1AFFA-33BF-B3CC-4BD0-D4F88D16A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0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ADAB-20F5-00E0-E512-2B70DDA7D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Log Archiving + Compliance Reflection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3D7B8-5258-9E55-D9C3-843EDFF82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For log management, we created an </a:t>
            </a:r>
            <a:r>
              <a:rPr lang="en-US" sz="2000" b="1">
                <a:ea typeface="+mn-lt"/>
                <a:cs typeface="+mn-lt"/>
              </a:rPr>
              <a:t>S3 lifecycle rule</a:t>
            </a:r>
            <a:r>
              <a:rPr lang="en-US" sz="2000">
                <a:ea typeface="+mn-lt"/>
                <a:cs typeface="+mn-lt"/>
              </a:rPr>
              <a:t> to simulate automated log archiving.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Logs transition to </a:t>
            </a:r>
            <a:r>
              <a:rPr lang="en-US" sz="2000" b="1">
                <a:ea typeface="+mn-lt"/>
                <a:cs typeface="+mn-lt"/>
              </a:rPr>
              <a:t>Standard-IA after 30 days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This reduces cost and keeps logs available for auditing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In terms of compliance and privacy, this project helped us understand: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The importance of monitoring with </a:t>
            </a:r>
            <a:r>
              <a:rPr lang="en-US" sz="2000" err="1">
                <a:ea typeface="+mn-lt"/>
                <a:cs typeface="+mn-lt"/>
              </a:rPr>
              <a:t>GuardDuty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How audit logs help with security investigations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How lifecycle policies support retention requirements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How Trusted Advisor guides organizations toward best practices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Overall, these tools improve visibility, reduce risks, and support compliance with security standards.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9957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Microsoft Office PowerPoint</Application>
  <PresentationFormat>Widescreen</PresentationFormat>
  <Paragraphs>229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CloudNova: AWS Architecture &amp; Monitoring</vt:lpstr>
      <vt:lpstr>Architecture Overview</vt:lpstr>
      <vt:lpstr>VPC and Subnet Design </vt:lpstr>
      <vt:lpstr>Route Table Configuration</vt:lpstr>
      <vt:lpstr>Security Groups (SGs)</vt:lpstr>
      <vt:lpstr>Network ACLs (NACLs)</vt:lpstr>
      <vt:lpstr>Bastion Host</vt:lpstr>
      <vt:lpstr>Application Load Balancer (ALB)</vt:lpstr>
      <vt:lpstr>EC2 Web Servers (Private Subnets)</vt:lpstr>
      <vt:lpstr>EBS Volumes + Auto-Mount Setup</vt:lpstr>
      <vt:lpstr>HTTPS Certificate (ACM)</vt:lpstr>
      <vt:lpstr>Auto Scaling Group (ASG)</vt:lpstr>
      <vt:lpstr>CloudTrail is like a  security camera for your AWS account. CloudTrail captures: </vt:lpstr>
      <vt:lpstr>Cloud Trail S3 bucket</vt:lpstr>
      <vt:lpstr>What is Amazon CloudWatch? CloudWatch is a monitoring service. It watches: </vt:lpstr>
      <vt:lpstr>CloudWatch Alarms CloudWatch Alarms make automatic alerts when a metric crosses a threshold.  </vt:lpstr>
      <vt:lpstr>Amazon SNS – simple notification services</vt:lpstr>
      <vt:lpstr>GuardDuty Threat Detection </vt:lpstr>
      <vt:lpstr>Our GuardDuty Findings</vt:lpstr>
      <vt:lpstr>PowerPoint Presentation</vt:lpstr>
      <vt:lpstr>AWS Trusted Advisor</vt:lpstr>
      <vt:lpstr>Our Trusted Advisor Findings</vt:lpstr>
      <vt:lpstr>PowerPoint Presentation</vt:lpstr>
      <vt:lpstr>Log Archiving + Compliance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Harleen Kaur Narania</dc:creator>
  <cp:lastModifiedBy>Harleen Kaur</cp:lastModifiedBy>
  <cp:revision>1</cp:revision>
  <dcterms:created xsi:type="dcterms:W3CDTF">2025-12-03T19:11:58Z</dcterms:created>
  <dcterms:modified xsi:type="dcterms:W3CDTF">2026-07-23T23:38:29Z</dcterms:modified>
</cp:coreProperties>
</file>